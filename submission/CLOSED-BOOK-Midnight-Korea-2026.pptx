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CLOSED BOOK. An evaluator can prove that an exact AI model build passed a confidential safety evaluation without publishing the evaluation. Built on Midnight for Midnight Korea Hackathon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Red-team suites only work while they stay secret: publish the prompts and exploits and they leak into training data and get patched. But if the suite stays completely secret, nobody outside can check the claim that a model passed it. That is the transparency paradox. CLOSED BOOK is a third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evaluator keeps the tests, outputs and results. A Compact circuit on Midnight takes them as a private witness and checks five things. Only commitments cross to the public side: the exact model build, the exact suite, the rule, an evidence commitment, the evaluator key and an attestation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at closed-book.vercel.app. Six private checks pass: the public receives commitments and a PASS. Fail one check, secret exfiltration: the attestation is refused, and the public side still learns nothing about which check failed, the prompt or the output. A failed release does not become a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attest circuit takes the evaluator secret, model digest, suite digest, salts and the six results as private witness. It asserts five things. Only values wrapped in disclose() reach the ledger, and the compiler rejects any other disclosure, so the privacy boundary is readable in the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only a browser simulation. Proving keys were generated with the official toolchain. The 6/6 witness produced a real PLONK proof with Midnight's official proof server and the WASM prover. Changing the witness to 5/6 is rejected by the constraint system itself. A threshold-5 control accepts the same witness, so it is the predicate that refuses. The proof is standalone; we do not claim an on-chain deployment. Evidence: proofs/evidence.json.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precise about the claim. The circuit binds an authorized evaluator to an exact model and suite and proves the private results meet the rule. It does not run the model in zero knowledge, and the evaluator is still trusted for its measurements. It is accountable, through its key and the evidence commitment.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CLOSED BOOK: verification without disclosure. For AI labs, independent evaluators and governance teams. Today: a real Compact circuit, a real ZK proof, a working DApp and reproducible tests. Next: a public Midnight deployment, multi-evaluator attestations and integration with real evaluation pipelines. Pass the test. Keep the test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EEE6"/>
        </a:solidFill>
      </p:bgPr>
    </p:bg>
    <p:spTree>
      <p:nvGrpSpPr>
        <p:cNvPr id="1" name=""/>
        <p:cNvGrpSpPr/>
        <p:nvPr/>
      </p:nvGrpSpPr>
      <p:grpSpPr>
        <a:xfrm>
          <a:off x="0" y="0"/>
          <a:ext cx="0" cy="0"/>
          <a:chOff x="0" y="0"/>
          <a:chExt cx="0" cy="0"/>
        </a:xfrm>
      </p:grpSpPr>
      <p:sp>
        <p:nvSpPr>
          <p:cNvPr id="2" name="Shape 0"/>
          <p:cNvSpPr/>
          <p:nvPr/>
        </p:nvSpPr>
        <p:spPr>
          <a:xfrm>
            <a:off x="674370" y="651510"/>
            <a:ext cx="171450" cy="342900"/>
          </a:xfrm>
          <a:prstGeom prst="rect">
            <a:avLst/>
          </a:prstGeom>
          <a:solidFill>
            <a:srgbClr val="0A0A0A"/>
          </a:solidFill>
          <a:ln w="12700">
            <a:solidFill>
              <a:srgbClr val="0A0A0A"/>
            </a:solidFill>
            <a:prstDash val="solid"/>
          </a:ln>
        </p:spPr>
      </p:sp>
      <p:sp>
        <p:nvSpPr>
          <p:cNvPr id="3" name="Shape 1"/>
          <p:cNvSpPr/>
          <p:nvPr/>
        </p:nvSpPr>
        <p:spPr>
          <a:xfrm>
            <a:off x="880110" y="582930"/>
            <a:ext cx="68580" cy="480060"/>
          </a:xfrm>
          <a:prstGeom prst="rect">
            <a:avLst/>
          </a:prstGeom>
          <a:solidFill>
            <a:srgbClr val="0A0A0A"/>
          </a:solidFill>
          <a:ln w="12700">
            <a:solidFill>
              <a:srgbClr val="0A0A0A"/>
            </a:solidFill>
            <a:prstDash val="solid"/>
          </a:ln>
        </p:spPr>
      </p:sp>
      <p:sp>
        <p:nvSpPr>
          <p:cNvPr id="4" name="Shape 2"/>
          <p:cNvSpPr/>
          <p:nvPr/>
        </p:nvSpPr>
        <p:spPr>
          <a:xfrm>
            <a:off x="1000125" y="668655"/>
            <a:ext cx="137160" cy="308610"/>
          </a:xfrm>
          <a:prstGeom prst="rect">
            <a:avLst/>
          </a:prstGeom>
          <a:ln w="34290">
            <a:solidFill>
              <a:srgbClr val="0A0A0A"/>
            </a:solidFill>
            <a:prstDash val="solid"/>
          </a:ln>
        </p:spPr>
      </p:sp>
      <p:sp>
        <p:nvSpPr>
          <p:cNvPr id="5" name="Text 3"/>
          <p:cNvSpPr/>
          <p:nvPr/>
        </p:nvSpPr>
        <p:spPr>
          <a:xfrm>
            <a:off x="6979615" y="685800"/>
            <a:ext cx="4572000" cy="274320"/>
          </a:xfrm>
          <a:prstGeom prst="rect">
            <a:avLst/>
          </a:prstGeom>
          <a:noFill/>
          <a:ln/>
        </p:spPr>
        <p:txBody>
          <a:bodyPr wrap="square" lIns="0" tIns="0" rIns="0" bIns="0" rtlCol="0" anchor="ctr"/>
          <a:lstStyle/>
          <a:p>
            <a:pPr algn="r" indent="0" marL="0">
              <a:buNone/>
            </a:pPr>
            <a:r>
              <a:rPr lang="en-US" sz="1100" spc="300" kern="0" dirty="0">
                <a:solidFill>
                  <a:srgbClr val="6C6A64"/>
                </a:solidFill>
                <a:latin typeface="IBM Plex Mono" pitchFamily="34" charset="0"/>
                <a:ea typeface="IBM Plex Mono" pitchFamily="34" charset="-122"/>
                <a:cs typeface="IBM Plex Mono" pitchFamily="34" charset="-120"/>
              </a:rPr>
              <a:t>MIDNIGHT KOREA HACKATHON 2026</a:t>
            </a:r>
            <a:endParaRPr lang="en-US" sz="1100" dirty="0"/>
          </a:p>
        </p:txBody>
      </p:sp>
      <p:sp>
        <p:nvSpPr>
          <p:cNvPr id="6" name="Text 4"/>
          <p:cNvSpPr/>
          <p:nvPr/>
        </p:nvSpPr>
        <p:spPr>
          <a:xfrm>
            <a:off x="640080" y="1554480"/>
            <a:ext cx="7315200" cy="457200"/>
          </a:xfrm>
          <a:prstGeom prst="rect">
            <a:avLst/>
          </a:prstGeom>
          <a:noFill/>
          <a:ln/>
        </p:spPr>
        <p:txBody>
          <a:bodyPr wrap="square" lIns="0" tIns="0" rIns="0" bIns="0" rtlCol="0" anchor="ctr"/>
          <a:lstStyle/>
          <a:p>
            <a:pPr indent="0" marL="0">
              <a:buNone/>
            </a:pPr>
            <a:r>
              <a:rPr lang="en-US" sz="1600" b="1" spc="600" kern="0" dirty="0">
                <a:solidFill>
                  <a:srgbClr val="0A0A0A"/>
                </a:solidFill>
                <a:latin typeface="IBM Plex Mono" pitchFamily="34" charset="0"/>
                <a:ea typeface="IBM Plex Mono" pitchFamily="34" charset="-122"/>
                <a:cs typeface="IBM Plex Mono" pitchFamily="34" charset="-120"/>
              </a:rPr>
              <a:t>CLOSED BOOK</a:t>
            </a:r>
            <a:endParaRPr lang="en-US" sz="1600" dirty="0"/>
          </a:p>
        </p:txBody>
      </p:sp>
      <p:sp>
        <p:nvSpPr>
          <p:cNvPr id="7" name="Text 5"/>
          <p:cNvSpPr/>
          <p:nvPr/>
        </p:nvSpPr>
        <p:spPr>
          <a:xfrm>
            <a:off x="640080" y="2103120"/>
            <a:ext cx="10515600" cy="2377440"/>
          </a:xfrm>
          <a:prstGeom prst="rect">
            <a:avLst/>
          </a:prstGeom>
          <a:noFill/>
          <a:ln/>
        </p:spPr>
        <p:txBody>
          <a:bodyPr wrap="square" lIns="0" tIns="0" rIns="0" bIns="0" rtlCol="0" anchor="t"/>
          <a:lstStyle/>
          <a:p>
            <a:pPr indent="0" marL="0">
              <a:lnSpc>
                <a:spcPct val="90000"/>
              </a:lnSpc>
              <a:buNone/>
            </a:pPr>
            <a:r>
              <a:rPr lang="en-US" sz="8000" dirty="0">
                <a:solidFill>
                  <a:srgbClr val="0A0A0A"/>
                </a:solidFill>
                <a:latin typeface="Instrument Serif" pitchFamily="34" charset="0"/>
                <a:ea typeface="Instrument Serif" pitchFamily="34" charset="-122"/>
                <a:cs typeface="Instrument Serif" pitchFamily="34" charset="-120"/>
              </a:rPr>
              <a:t>Pass the test.</a:t>
            </a:r>
            <a:endParaRPr lang="en-US" sz="8000" dirty="0"/>
          </a:p>
          <a:p>
            <a:pPr indent="0" marL="0">
              <a:lnSpc>
                <a:spcPct val="90000"/>
              </a:lnSpc>
              <a:buNone/>
            </a:pPr>
            <a:r>
              <a:rPr lang="en-US" sz="8000" i="1" dirty="0">
                <a:solidFill>
                  <a:srgbClr val="0A0A0A"/>
                </a:solidFill>
                <a:latin typeface="Instrument Serif" pitchFamily="34" charset="0"/>
                <a:ea typeface="Instrument Serif" pitchFamily="34" charset="-122"/>
                <a:cs typeface="Instrument Serif" pitchFamily="34" charset="-120"/>
              </a:rPr>
              <a:t>Keep the test closed.</a:t>
            </a:r>
            <a:endParaRPr lang="en-US" sz="8000" dirty="0"/>
          </a:p>
        </p:txBody>
      </p:sp>
      <p:sp>
        <p:nvSpPr>
          <p:cNvPr id="8" name="Text 6"/>
          <p:cNvSpPr/>
          <p:nvPr/>
        </p:nvSpPr>
        <p:spPr>
          <a:xfrm>
            <a:off x="640080" y="4754880"/>
            <a:ext cx="6400800" cy="457200"/>
          </a:xfrm>
          <a:prstGeom prst="rect">
            <a:avLst/>
          </a:prstGeom>
          <a:noFill/>
          <a:ln/>
        </p:spPr>
        <p:txBody>
          <a:bodyPr wrap="square" lIns="0" tIns="0" rIns="0" bIns="0" rtlCol="0" anchor="ctr"/>
          <a:lstStyle/>
          <a:p>
            <a:pPr indent="0" marL="0">
              <a:buNone/>
            </a:pPr>
            <a:r>
              <a:rPr lang="en-US" sz="2000" dirty="0">
                <a:solidFill>
                  <a:srgbClr val="0A0A0A"/>
                </a:solidFill>
                <a:latin typeface="Instrument Sans" pitchFamily="34" charset="0"/>
                <a:ea typeface="Instrument Sans" pitchFamily="34" charset="-122"/>
                <a:cs typeface="Instrument Sans" pitchFamily="34" charset="-120"/>
              </a:rPr>
              <a:t>Privacy-preserving AI safety attestations on Midnight.</a:t>
            </a:r>
            <a:endParaRPr lang="en-US" sz="2000" dirty="0"/>
          </a:p>
        </p:txBody>
      </p:sp>
      <p:sp>
        <p:nvSpPr>
          <p:cNvPr id="9" name="Shape 7"/>
          <p:cNvSpPr/>
          <p:nvPr/>
        </p:nvSpPr>
        <p:spPr>
          <a:xfrm>
            <a:off x="7223760" y="4892040"/>
            <a:ext cx="4327855" cy="0"/>
          </a:xfrm>
          <a:prstGeom prst="line">
            <a:avLst/>
          </a:prstGeom>
          <a:noFill/>
          <a:ln w="9525">
            <a:solidFill>
              <a:srgbClr val="0A0A0A"/>
            </a:solidFill>
            <a:prstDash val="solid"/>
          </a:ln>
        </p:spPr>
      </p:sp>
      <p:sp>
        <p:nvSpPr>
          <p:cNvPr id="10" name="Shape 8"/>
          <p:cNvSpPr/>
          <p:nvPr/>
        </p:nvSpPr>
        <p:spPr>
          <a:xfrm>
            <a:off x="7223760" y="5074920"/>
            <a:ext cx="1463040" cy="155448"/>
          </a:xfrm>
          <a:prstGeom prst="rect">
            <a:avLst/>
          </a:prstGeom>
          <a:solidFill>
            <a:srgbClr val="0A0A0A"/>
          </a:solidFill>
          <a:ln w="12700">
            <a:solidFill>
              <a:srgbClr val="0A0A0A"/>
            </a:solidFill>
            <a:prstDash val="solid"/>
          </a:ln>
        </p:spPr>
      </p:sp>
      <p:sp>
        <p:nvSpPr>
          <p:cNvPr id="11" name="Shape 9"/>
          <p:cNvSpPr/>
          <p:nvPr/>
        </p:nvSpPr>
        <p:spPr>
          <a:xfrm>
            <a:off x="8759952" y="5074920"/>
            <a:ext cx="822960" cy="155448"/>
          </a:xfrm>
          <a:prstGeom prst="rect">
            <a:avLst/>
          </a:prstGeom>
          <a:solidFill>
            <a:srgbClr val="0A0A0A"/>
          </a:solidFill>
          <a:ln w="12700">
            <a:solidFill>
              <a:srgbClr val="0A0A0A"/>
            </a:solidFill>
            <a:prstDash val="solid"/>
          </a:ln>
        </p:spPr>
      </p:sp>
      <p:sp>
        <p:nvSpPr>
          <p:cNvPr id="12" name="Shape 10"/>
          <p:cNvSpPr/>
          <p:nvPr/>
        </p:nvSpPr>
        <p:spPr>
          <a:xfrm>
            <a:off x="9656064" y="5074920"/>
            <a:ext cx="1188720" cy="155448"/>
          </a:xfrm>
          <a:prstGeom prst="rect">
            <a:avLst/>
          </a:prstGeom>
          <a:solidFill>
            <a:srgbClr val="0A0A0A"/>
          </a:solidFill>
          <a:ln w="12700">
            <a:solidFill>
              <a:srgbClr val="0A0A0A"/>
            </a:solidFill>
            <a:prstDash val="solid"/>
          </a:ln>
        </p:spPr>
      </p:sp>
      <p:sp>
        <p:nvSpPr>
          <p:cNvPr id="13" name="Shape 11"/>
          <p:cNvSpPr/>
          <p:nvPr/>
        </p:nvSpPr>
        <p:spPr>
          <a:xfrm>
            <a:off x="7223760" y="5349240"/>
            <a:ext cx="2286000" cy="155448"/>
          </a:xfrm>
          <a:prstGeom prst="rect">
            <a:avLst/>
          </a:prstGeom>
          <a:solidFill>
            <a:srgbClr val="0A0A0A"/>
          </a:solidFill>
          <a:ln w="12700">
            <a:solidFill>
              <a:srgbClr val="0A0A0A"/>
            </a:solidFill>
            <a:prstDash val="solid"/>
          </a:ln>
        </p:spPr>
      </p:sp>
      <p:sp>
        <p:nvSpPr>
          <p:cNvPr id="14" name="Shape 12"/>
          <p:cNvSpPr/>
          <p:nvPr/>
        </p:nvSpPr>
        <p:spPr>
          <a:xfrm>
            <a:off x="9582912" y="5349240"/>
            <a:ext cx="640080" cy="155448"/>
          </a:xfrm>
          <a:prstGeom prst="rect">
            <a:avLst/>
          </a:prstGeom>
          <a:solidFill>
            <a:srgbClr val="0A0A0A"/>
          </a:solidFill>
          <a:ln w="12700">
            <a:solidFill>
              <a:srgbClr val="0A0A0A"/>
            </a:solidFill>
            <a:prstDash val="solid"/>
          </a:ln>
        </p:spPr>
      </p:sp>
      <p:sp>
        <p:nvSpPr>
          <p:cNvPr id="15" name="Shape 13"/>
          <p:cNvSpPr/>
          <p:nvPr/>
        </p:nvSpPr>
        <p:spPr>
          <a:xfrm>
            <a:off x="7223760" y="5623560"/>
            <a:ext cx="914400" cy="155448"/>
          </a:xfrm>
          <a:prstGeom prst="rect">
            <a:avLst/>
          </a:prstGeom>
          <a:solidFill>
            <a:srgbClr val="0A0A0A"/>
          </a:solidFill>
          <a:ln w="12700">
            <a:solidFill>
              <a:srgbClr val="0A0A0A"/>
            </a:solidFill>
            <a:prstDash val="solid"/>
          </a:ln>
        </p:spPr>
      </p:sp>
      <p:sp>
        <p:nvSpPr>
          <p:cNvPr id="16" name="Shape 14"/>
          <p:cNvSpPr/>
          <p:nvPr/>
        </p:nvSpPr>
        <p:spPr>
          <a:xfrm>
            <a:off x="8211312" y="5623560"/>
            <a:ext cx="1737360" cy="155448"/>
          </a:xfrm>
          <a:prstGeom prst="rect">
            <a:avLst/>
          </a:prstGeom>
          <a:solidFill>
            <a:srgbClr val="0A0A0A"/>
          </a:solidFill>
          <a:ln w="12700">
            <a:solidFill>
              <a:srgbClr val="0A0A0A"/>
            </a:solidFill>
            <a:prstDash val="solid"/>
          </a:ln>
        </p:spPr>
      </p:sp>
      <p:sp>
        <p:nvSpPr>
          <p:cNvPr id="17" name="Text 15"/>
          <p:cNvSpPr/>
          <p:nvPr/>
        </p:nvSpPr>
        <p:spPr>
          <a:xfrm>
            <a:off x="7223760" y="5989320"/>
            <a:ext cx="4480560" cy="274320"/>
          </a:xfrm>
          <a:prstGeom prst="rect">
            <a:avLst/>
          </a:prstGeom>
          <a:noFill/>
          <a:ln/>
        </p:spPr>
        <p:txBody>
          <a:bodyPr wrap="square" lIns="0" tIns="0" rIns="0" bIns="0" rtlCol="0" anchor="ctr"/>
          <a:lstStyle/>
          <a:p>
            <a:pPr indent="0" marL="0">
              <a:buNone/>
            </a:pPr>
            <a:r>
              <a:rPr lang="en-US" sz="1000" spc="200" kern="0" dirty="0">
                <a:solidFill>
                  <a:srgbClr val="6C6A64"/>
                </a:solidFill>
                <a:latin typeface="IBM Plex Mono" pitchFamily="34" charset="0"/>
                <a:ea typeface="IBM Plex Mono" pitchFamily="34" charset="-122"/>
                <a:cs typeface="IBM Plex Mono" pitchFamily="34" charset="-120"/>
              </a:rPr>
              <a:t>THE PROOF IS PUBLIC. THE EVIDENCE ISN'T.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EEE6"/>
        </a:solidFill>
      </p:bgPr>
    </p:bg>
    <p:spTree>
      <p:nvGrpSpPr>
        <p:cNvPr id="1" name=""/>
        <p:cNvGrpSpPr/>
        <p:nvPr/>
      </p:nvGrpSpPr>
      <p:grpSpPr>
        <a:xfrm>
          <a:off x="0" y="0"/>
          <a:ext cx="0" cy="0"/>
          <a:chOff x="0" y="0"/>
          <a:chExt cx="0" cy="0"/>
        </a:xfrm>
      </p:grpSpPr>
      <p:sp>
        <p:nvSpPr>
          <p:cNvPr id="2" name="Shape 0"/>
          <p:cNvSpPr/>
          <p:nvPr/>
        </p:nvSpPr>
        <p:spPr>
          <a:xfrm>
            <a:off x="658368" y="466344"/>
            <a:ext cx="91440" cy="182880"/>
          </a:xfrm>
          <a:prstGeom prst="rect">
            <a:avLst/>
          </a:prstGeom>
          <a:solidFill>
            <a:srgbClr val="0A0A0A"/>
          </a:solidFill>
          <a:ln w="12700">
            <a:solidFill>
              <a:srgbClr val="0A0A0A"/>
            </a:solidFill>
            <a:prstDash val="solid"/>
          </a:ln>
        </p:spPr>
      </p:sp>
      <p:sp>
        <p:nvSpPr>
          <p:cNvPr id="3" name="Shape 1"/>
          <p:cNvSpPr/>
          <p:nvPr/>
        </p:nvSpPr>
        <p:spPr>
          <a:xfrm>
            <a:off x="768096" y="429768"/>
            <a:ext cx="36576" cy="256032"/>
          </a:xfrm>
          <a:prstGeom prst="rect">
            <a:avLst/>
          </a:prstGeom>
          <a:solidFill>
            <a:srgbClr val="0A0A0A"/>
          </a:solidFill>
          <a:ln w="12700">
            <a:solidFill>
              <a:srgbClr val="0A0A0A"/>
            </a:solidFill>
            <a:prstDash val="solid"/>
          </a:ln>
        </p:spPr>
      </p:sp>
      <p:sp>
        <p:nvSpPr>
          <p:cNvPr id="4" name="Shape 2"/>
          <p:cNvSpPr/>
          <p:nvPr/>
        </p:nvSpPr>
        <p:spPr>
          <a:xfrm>
            <a:off x="832104" y="475488"/>
            <a:ext cx="73152" cy="164592"/>
          </a:xfrm>
          <a:prstGeom prst="rect">
            <a:avLst/>
          </a:prstGeom>
          <a:ln w="18288">
            <a:solidFill>
              <a:srgbClr val="0A0A0A"/>
            </a:solidFill>
            <a:prstDash val="solid"/>
          </a:ln>
        </p:spPr>
      </p:sp>
      <p:sp>
        <p:nvSpPr>
          <p:cNvPr id="5" name="Text 3"/>
          <p:cNvSpPr/>
          <p:nvPr/>
        </p:nvSpPr>
        <p:spPr>
          <a:xfrm>
            <a:off x="1051560" y="429768"/>
            <a:ext cx="2743200" cy="274320"/>
          </a:xfrm>
          <a:prstGeom prst="rect">
            <a:avLst/>
          </a:prstGeom>
          <a:noFill/>
          <a:ln/>
        </p:spPr>
        <p:txBody>
          <a:bodyPr wrap="square" lIns="0" tIns="0" rIns="0" bIns="0" rtlCol="0" anchor="ctr"/>
          <a:lstStyle/>
          <a:p>
            <a:pPr indent="0" marL="0">
              <a:buNone/>
            </a:pPr>
            <a:r>
              <a:rPr lang="en-US" sz="1100" b="1" spc="300" kern="0" dirty="0">
                <a:solidFill>
                  <a:srgbClr val="0A0A0A"/>
                </a:solidFill>
                <a:latin typeface="IBM Plex Mono" pitchFamily="34" charset="0"/>
                <a:ea typeface="IBM Plex Mono" pitchFamily="34" charset="-122"/>
                <a:cs typeface="IBM Plex Mono" pitchFamily="34" charset="-120"/>
              </a:rPr>
              <a:t>CLOSED BOOK</a:t>
            </a:r>
            <a:endParaRPr lang="en-US" sz="1100" dirty="0"/>
          </a:p>
        </p:txBody>
      </p:sp>
      <p:sp>
        <p:nvSpPr>
          <p:cNvPr id="6" name="Text 4"/>
          <p:cNvSpPr/>
          <p:nvPr/>
        </p:nvSpPr>
        <p:spPr>
          <a:xfrm>
            <a:off x="7894015" y="429768"/>
            <a:ext cx="3657600" cy="274320"/>
          </a:xfrm>
          <a:prstGeom prst="rect">
            <a:avLst/>
          </a:prstGeom>
          <a:noFill/>
          <a:ln/>
        </p:spPr>
        <p:txBody>
          <a:bodyPr wrap="square" lIns="0" tIns="0" rIns="0" bIns="0" rtlCol="0" anchor="ctr"/>
          <a:lstStyle/>
          <a:p>
            <a:pPr algn="r" indent="0" marL="0">
              <a:buNone/>
            </a:pPr>
            <a:r>
              <a:rPr lang="en-US" sz="1100" spc="300" kern="0" dirty="0">
                <a:solidFill>
                  <a:srgbClr val="6C6A64"/>
                </a:solidFill>
                <a:latin typeface="IBM Plex Mono" pitchFamily="34" charset="0"/>
                <a:ea typeface="IBM Plex Mono" pitchFamily="34" charset="-122"/>
                <a:cs typeface="IBM Plex Mono" pitchFamily="34" charset="-120"/>
              </a:rPr>
              <a:t>01 · THE PROBLEM</a:t>
            </a:r>
            <a:endParaRPr lang="en-US" sz="1100" dirty="0"/>
          </a:p>
        </p:txBody>
      </p:sp>
      <p:sp>
        <p:nvSpPr>
          <p:cNvPr id="7" name="Shape 5"/>
          <p:cNvSpPr/>
          <p:nvPr/>
        </p:nvSpPr>
        <p:spPr>
          <a:xfrm>
            <a:off x="640080" y="868680"/>
            <a:ext cx="10911535" cy="0"/>
          </a:xfrm>
          <a:prstGeom prst="line">
            <a:avLst/>
          </a:prstGeom>
          <a:noFill/>
          <a:ln w="9525">
            <a:solidFill>
              <a:srgbClr val="0A0A0A"/>
            </a:solidFill>
            <a:prstDash val="solid"/>
          </a:ln>
        </p:spPr>
      </p:sp>
      <p:sp>
        <p:nvSpPr>
          <p:cNvPr id="8" name="Text 6"/>
          <p:cNvSpPr/>
          <p:nvPr/>
        </p:nvSpPr>
        <p:spPr>
          <a:xfrm>
            <a:off x="640080" y="1097280"/>
            <a:ext cx="10911535" cy="1371600"/>
          </a:xfrm>
          <a:prstGeom prst="rect">
            <a:avLst/>
          </a:prstGeom>
          <a:noFill/>
          <a:ln/>
        </p:spPr>
        <p:txBody>
          <a:bodyPr wrap="square" lIns="0" tIns="0" rIns="0" bIns="0" rtlCol="0" anchor="t"/>
          <a:lstStyle/>
          <a:p>
            <a:pPr indent="0" marL="0">
              <a:buNone/>
            </a:pPr>
            <a:r>
              <a:rPr lang="en-US" sz="3400" dirty="0">
                <a:solidFill>
                  <a:srgbClr val="0A0A0A"/>
                </a:solidFill>
                <a:latin typeface="Instrument Serif" pitchFamily="34" charset="0"/>
                <a:ea typeface="Instrument Serif" pitchFamily="34" charset="-122"/>
                <a:cs typeface="Instrument Serif" pitchFamily="34" charset="-120"/>
              </a:rPr>
              <a:t>AI safety tests are most valuable when they are secret.</a:t>
            </a:r>
            <a:endParaRPr lang="en-US" sz="3400" dirty="0"/>
          </a:p>
          <a:p>
            <a:pPr indent="0" marL="0">
              <a:buNone/>
            </a:pPr>
            <a:r>
              <a:rPr lang="en-US" sz="3400" dirty="0">
                <a:solidFill>
                  <a:srgbClr val="6C6A64"/>
                </a:solidFill>
                <a:latin typeface="Instrument Serif" pitchFamily="34" charset="0"/>
                <a:ea typeface="Instrument Serif" pitchFamily="34" charset="-122"/>
                <a:cs typeface="Instrument Serif" pitchFamily="34" charset="-120"/>
              </a:rPr>
              <a:t>Safety claims are most valuable when they are verifiable.</a:t>
            </a:r>
            <a:endParaRPr lang="en-US" sz="3400" dirty="0"/>
          </a:p>
        </p:txBody>
      </p:sp>
      <p:sp>
        <p:nvSpPr>
          <p:cNvPr id="9" name="Shape 7"/>
          <p:cNvSpPr/>
          <p:nvPr/>
        </p:nvSpPr>
        <p:spPr>
          <a:xfrm>
            <a:off x="640080" y="2743200"/>
            <a:ext cx="5212080" cy="2743200"/>
          </a:xfrm>
          <a:prstGeom prst="rect">
            <a:avLst/>
          </a:prstGeom>
          <a:solidFill>
            <a:srgbClr val="F1EEE6"/>
          </a:solidFill>
          <a:ln w="12700">
            <a:solidFill>
              <a:srgbClr val="0A0A0A"/>
            </a:solidFill>
            <a:prstDash val="solid"/>
          </a:ln>
        </p:spPr>
      </p:sp>
      <p:sp>
        <p:nvSpPr>
          <p:cNvPr id="10" name="Text 8"/>
          <p:cNvSpPr/>
          <p:nvPr/>
        </p:nvSpPr>
        <p:spPr>
          <a:xfrm>
            <a:off x="960120" y="2971800"/>
            <a:ext cx="4572000" cy="274320"/>
          </a:xfrm>
          <a:prstGeom prst="rect">
            <a:avLst/>
          </a:prstGeom>
          <a:noFill/>
          <a:ln/>
        </p:spPr>
        <p:txBody>
          <a:bodyPr wrap="square" lIns="0" tIns="0" rIns="0" bIns="0" rtlCol="0" anchor="ctr"/>
          <a:lstStyle/>
          <a:p>
            <a:pPr indent="0" marL="0">
              <a:buNone/>
            </a:pPr>
            <a:r>
              <a:rPr lang="en-US" sz="1100" b="1" spc="300" kern="0" dirty="0">
                <a:solidFill>
                  <a:srgbClr val="0A0A0A"/>
                </a:solidFill>
                <a:latin typeface="IBM Plex Mono" pitchFamily="34" charset="0"/>
                <a:ea typeface="IBM Plex Mono" pitchFamily="34" charset="-122"/>
                <a:cs typeface="IBM Plex Mono" pitchFamily="34" charset="-120"/>
              </a:rPr>
              <a:t>PUBLISH THE TEST</a:t>
            </a:r>
            <a:endParaRPr lang="en-US" sz="1100" dirty="0"/>
          </a:p>
        </p:txBody>
      </p:sp>
      <p:sp>
        <p:nvSpPr>
          <p:cNvPr id="11" name="Text 9"/>
          <p:cNvSpPr/>
          <p:nvPr/>
        </p:nvSpPr>
        <p:spPr>
          <a:xfrm>
            <a:off x="960120" y="3429000"/>
            <a:ext cx="4572000" cy="1828800"/>
          </a:xfrm>
          <a:prstGeom prst="rect">
            <a:avLst/>
          </a:prstGeom>
          <a:noFill/>
          <a:ln/>
        </p:spPr>
        <p:txBody>
          <a:bodyPr wrap="square" lIns="0" tIns="0" rIns="0" bIns="0" rtlCol="0" anchor="t"/>
          <a:lstStyle/>
          <a:p>
            <a:pPr indent="0" marL="0">
              <a:spcAft>
                <a:spcPts val="800"/>
              </a:spcAft>
              <a:buNone/>
            </a:pPr>
            <a:r>
              <a:rPr lang="en-US" sz="2000" dirty="0">
                <a:solidFill>
                  <a:srgbClr val="0A0A0A"/>
                </a:solidFill>
                <a:latin typeface="Instrument Sans" pitchFamily="34" charset="0"/>
                <a:ea typeface="Instrument Sans" pitchFamily="34" charset="-122"/>
                <a:cs typeface="Instrument Sans" pitchFamily="34" charset="-120"/>
              </a:rPr>
              <a:t>→ benchmark leakage</a:t>
            </a:r>
            <a:endParaRPr lang="en-US" sz="2000" dirty="0"/>
          </a:p>
          <a:p>
            <a:pPr indent="0" marL="0">
              <a:spcAft>
                <a:spcPts val="800"/>
              </a:spcAft>
              <a:buNone/>
            </a:pPr>
            <a:r>
              <a:rPr lang="en-US" sz="2000" dirty="0">
                <a:solidFill>
                  <a:srgbClr val="0A0A0A"/>
                </a:solidFill>
                <a:latin typeface="Instrument Sans" pitchFamily="34" charset="0"/>
                <a:ea typeface="Instrument Sans" pitchFamily="34" charset="-122"/>
                <a:cs typeface="Instrument Sans" pitchFamily="34" charset="-120"/>
              </a:rPr>
              <a:t>→ exploit leakage</a:t>
            </a:r>
            <a:endParaRPr lang="en-US" sz="2000" dirty="0"/>
          </a:p>
          <a:p>
            <a:pPr indent="0" marL="0">
              <a:spcAft>
                <a:spcPts val="800"/>
              </a:spcAft>
              <a:buNone/>
            </a:pPr>
            <a:r>
              <a:rPr lang="en-US" sz="2000" dirty="0">
                <a:solidFill>
                  <a:srgbClr val="0A0A0A"/>
                </a:solidFill>
                <a:latin typeface="Instrument Sans" pitchFamily="34" charset="0"/>
                <a:ea typeface="Instrument Sans" pitchFamily="34" charset="-122"/>
                <a:cs typeface="Instrument Sans" pitchFamily="34" charset="-120"/>
              </a:rPr>
              <a:t>→ the test loses its value</a:t>
            </a:r>
            <a:endParaRPr lang="en-US" sz="2000" dirty="0"/>
          </a:p>
        </p:txBody>
      </p:sp>
      <p:sp>
        <p:nvSpPr>
          <p:cNvPr id="12" name="Shape 10"/>
          <p:cNvSpPr/>
          <p:nvPr/>
        </p:nvSpPr>
        <p:spPr>
          <a:xfrm>
            <a:off x="6339535" y="2743200"/>
            <a:ext cx="5212080" cy="2743200"/>
          </a:xfrm>
          <a:prstGeom prst="rect">
            <a:avLst/>
          </a:prstGeom>
          <a:solidFill>
            <a:srgbClr val="0A0A0A"/>
          </a:solidFill>
          <a:ln w="12700">
            <a:solidFill>
              <a:srgbClr val="0A0A0A"/>
            </a:solidFill>
            <a:prstDash val="solid"/>
          </a:ln>
        </p:spPr>
      </p:sp>
      <p:sp>
        <p:nvSpPr>
          <p:cNvPr id="13" name="Text 11"/>
          <p:cNvSpPr/>
          <p:nvPr/>
        </p:nvSpPr>
        <p:spPr>
          <a:xfrm>
            <a:off x="6659575" y="2971800"/>
            <a:ext cx="4572000" cy="274320"/>
          </a:xfrm>
          <a:prstGeom prst="rect">
            <a:avLst/>
          </a:prstGeom>
          <a:noFill/>
          <a:ln/>
        </p:spPr>
        <p:txBody>
          <a:bodyPr wrap="square" lIns="0" tIns="0" rIns="0" bIns="0" rtlCol="0" anchor="ctr"/>
          <a:lstStyle/>
          <a:p>
            <a:pPr indent="0" marL="0">
              <a:buNone/>
            </a:pPr>
            <a:r>
              <a:rPr lang="en-US" sz="1100" b="1" spc="300" kern="0" dirty="0">
                <a:solidFill>
                  <a:srgbClr val="F1EEE6"/>
                </a:solidFill>
                <a:latin typeface="IBM Plex Mono" pitchFamily="34" charset="0"/>
                <a:ea typeface="IBM Plex Mono" pitchFamily="34" charset="-122"/>
                <a:cs typeface="IBM Plex Mono" pitchFamily="34" charset="-120"/>
              </a:rPr>
              <a:t>HIDE THE TEST</a:t>
            </a:r>
            <a:endParaRPr lang="en-US" sz="1100" dirty="0"/>
          </a:p>
        </p:txBody>
      </p:sp>
      <p:sp>
        <p:nvSpPr>
          <p:cNvPr id="14" name="Text 12"/>
          <p:cNvSpPr/>
          <p:nvPr/>
        </p:nvSpPr>
        <p:spPr>
          <a:xfrm>
            <a:off x="6659575" y="3429000"/>
            <a:ext cx="4572000" cy="1828800"/>
          </a:xfrm>
          <a:prstGeom prst="rect">
            <a:avLst/>
          </a:prstGeom>
          <a:noFill/>
          <a:ln/>
        </p:spPr>
        <p:txBody>
          <a:bodyPr wrap="square" lIns="0" tIns="0" rIns="0" bIns="0" rtlCol="0" anchor="t"/>
          <a:lstStyle/>
          <a:p>
            <a:pPr indent="0" marL="0">
              <a:spcAft>
                <a:spcPts val="800"/>
              </a:spcAft>
              <a:buNone/>
            </a:pPr>
            <a:r>
              <a:rPr lang="en-US" sz="2000" dirty="0">
                <a:solidFill>
                  <a:srgbClr val="F1EEE6"/>
                </a:solidFill>
                <a:latin typeface="Instrument Sans" pitchFamily="34" charset="0"/>
                <a:ea typeface="Instrument Sans" pitchFamily="34" charset="-122"/>
                <a:cs typeface="Instrument Sans" pitchFamily="34" charset="-120"/>
              </a:rPr>
              <a:t>→ outsiders cannot verify the claim</a:t>
            </a:r>
            <a:endParaRPr lang="en-US" sz="2000" dirty="0"/>
          </a:p>
          <a:p>
            <a:pPr indent="0" marL="0">
              <a:spcAft>
                <a:spcPts val="800"/>
              </a:spcAft>
              <a:buNone/>
            </a:pPr>
            <a:r>
              <a:rPr lang="en-US" sz="2000" dirty="0">
                <a:solidFill>
                  <a:srgbClr val="F1EEE6"/>
                </a:solidFill>
                <a:latin typeface="Instrument Sans" pitchFamily="34" charset="0"/>
                <a:ea typeface="Instrument Sans" pitchFamily="34" charset="-122"/>
                <a:cs typeface="Instrument Sans" pitchFamily="34" charset="-120"/>
              </a:rPr>
              <a:t>→ trust the evaluator</a:t>
            </a:r>
            <a:endParaRPr lang="en-US" sz="2000" dirty="0"/>
          </a:p>
          <a:p>
            <a:pPr indent="0" marL="0">
              <a:spcAft>
                <a:spcPts val="800"/>
              </a:spcAft>
              <a:buNone/>
            </a:pPr>
            <a:r>
              <a:rPr lang="en-US" sz="2000" dirty="0">
                <a:solidFill>
                  <a:srgbClr val="F1EEE6"/>
                </a:solidFill>
                <a:latin typeface="Instrument Sans" pitchFamily="34" charset="0"/>
                <a:ea typeface="Instrument Sans" pitchFamily="34" charset="-122"/>
                <a:cs typeface="Instrument Sans" pitchFamily="34" charset="-120"/>
              </a:rPr>
              <a:t>→ a press release</a:t>
            </a:r>
            <a:endParaRPr lang="en-US" sz="2000" dirty="0"/>
          </a:p>
        </p:txBody>
      </p:sp>
      <p:sp>
        <p:nvSpPr>
          <p:cNvPr id="15" name="Text 13"/>
          <p:cNvSpPr/>
          <p:nvPr/>
        </p:nvSpPr>
        <p:spPr>
          <a:xfrm>
            <a:off x="640080" y="5806440"/>
            <a:ext cx="10911535" cy="457200"/>
          </a:xfrm>
          <a:prstGeom prst="rect">
            <a:avLst/>
          </a:prstGeom>
          <a:noFill/>
          <a:ln/>
        </p:spPr>
        <p:txBody>
          <a:bodyPr wrap="square" lIns="0" tIns="0" rIns="0" bIns="0" rtlCol="0" anchor="ctr"/>
          <a:lstStyle/>
          <a:p>
            <a:pPr indent="0" marL="0">
              <a:buNone/>
            </a:pPr>
            <a:r>
              <a:rPr lang="en-US" sz="2600" i="1" dirty="0">
                <a:solidFill>
                  <a:srgbClr val="0A0A0A"/>
                </a:solidFill>
                <a:latin typeface="Instrument Serif" pitchFamily="34" charset="0"/>
                <a:ea typeface="Instrument Serif" pitchFamily="34" charset="-122"/>
                <a:cs typeface="Instrument Serif" pitchFamily="34" charset="-120"/>
              </a:rPr>
              <a:t>CLOSED BOOK provides a third option.</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EEE6"/>
        </a:solidFill>
      </p:bgPr>
    </p:bg>
    <p:spTree>
      <p:nvGrpSpPr>
        <p:cNvPr id="1" name=""/>
        <p:cNvGrpSpPr/>
        <p:nvPr/>
      </p:nvGrpSpPr>
      <p:grpSpPr>
        <a:xfrm>
          <a:off x="0" y="0"/>
          <a:ext cx="0" cy="0"/>
          <a:chOff x="0" y="0"/>
          <a:chExt cx="0" cy="0"/>
        </a:xfrm>
      </p:grpSpPr>
      <p:sp>
        <p:nvSpPr>
          <p:cNvPr id="2" name="Shape 0"/>
          <p:cNvSpPr/>
          <p:nvPr/>
        </p:nvSpPr>
        <p:spPr>
          <a:xfrm>
            <a:off x="658368" y="466344"/>
            <a:ext cx="91440" cy="182880"/>
          </a:xfrm>
          <a:prstGeom prst="rect">
            <a:avLst/>
          </a:prstGeom>
          <a:solidFill>
            <a:srgbClr val="0A0A0A"/>
          </a:solidFill>
          <a:ln w="12700">
            <a:solidFill>
              <a:srgbClr val="0A0A0A"/>
            </a:solidFill>
            <a:prstDash val="solid"/>
          </a:ln>
        </p:spPr>
      </p:sp>
      <p:sp>
        <p:nvSpPr>
          <p:cNvPr id="3" name="Shape 1"/>
          <p:cNvSpPr/>
          <p:nvPr/>
        </p:nvSpPr>
        <p:spPr>
          <a:xfrm>
            <a:off x="768096" y="429768"/>
            <a:ext cx="36576" cy="256032"/>
          </a:xfrm>
          <a:prstGeom prst="rect">
            <a:avLst/>
          </a:prstGeom>
          <a:solidFill>
            <a:srgbClr val="0A0A0A"/>
          </a:solidFill>
          <a:ln w="12700">
            <a:solidFill>
              <a:srgbClr val="0A0A0A"/>
            </a:solidFill>
            <a:prstDash val="solid"/>
          </a:ln>
        </p:spPr>
      </p:sp>
      <p:sp>
        <p:nvSpPr>
          <p:cNvPr id="4" name="Shape 2"/>
          <p:cNvSpPr/>
          <p:nvPr/>
        </p:nvSpPr>
        <p:spPr>
          <a:xfrm>
            <a:off x="832104" y="475488"/>
            <a:ext cx="73152" cy="164592"/>
          </a:xfrm>
          <a:prstGeom prst="rect">
            <a:avLst/>
          </a:prstGeom>
          <a:ln w="18288">
            <a:solidFill>
              <a:srgbClr val="0A0A0A"/>
            </a:solidFill>
            <a:prstDash val="solid"/>
          </a:ln>
        </p:spPr>
      </p:sp>
      <p:sp>
        <p:nvSpPr>
          <p:cNvPr id="5" name="Text 3"/>
          <p:cNvSpPr/>
          <p:nvPr/>
        </p:nvSpPr>
        <p:spPr>
          <a:xfrm>
            <a:off x="1051560" y="429768"/>
            <a:ext cx="2743200" cy="274320"/>
          </a:xfrm>
          <a:prstGeom prst="rect">
            <a:avLst/>
          </a:prstGeom>
          <a:noFill/>
          <a:ln/>
        </p:spPr>
        <p:txBody>
          <a:bodyPr wrap="square" lIns="0" tIns="0" rIns="0" bIns="0" rtlCol="0" anchor="ctr"/>
          <a:lstStyle/>
          <a:p>
            <a:pPr indent="0" marL="0">
              <a:buNone/>
            </a:pPr>
            <a:r>
              <a:rPr lang="en-US" sz="1100" b="1" spc="300" kern="0" dirty="0">
                <a:solidFill>
                  <a:srgbClr val="0A0A0A"/>
                </a:solidFill>
                <a:latin typeface="IBM Plex Mono" pitchFamily="34" charset="0"/>
                <a:ea typeface="IBM Plex Mono" pitchFamily="34" charset="-122"/>
                <a:cs typeface="IBM Plex Mono" pitchFamily="34" charset="-120"/>
              </a:rPr>
              <a:t>CLOSED BOOK</a:t>
            </a:r>
            <a:endParaRPr lang="en-US" sz="1100" dirty="0"/>
          </a:p>
        </p:txBody>
      </p:sp>
      <p:sp>
        <p:nvSpPr>
          <p:cNvPr id="6" name="Text 4"/>
          <p:cNvSpPr/>
          <p:nvPr/>
        </p:nvSpPr>
        <p:spPr>
          <a:xfrm>
            <a:off x="7894015" y="429768"/>
            <a:ext cx="3657600" cy="274320"/>
          </a:xfrm>
          <a:prstGeom prst="rect">
            <a:avLst/>
          </a:prstGeom>
          <a:noFill/>
          <a:ln/>
        </p:spPr>
        <p:txBody>
          <a:bodyPr wrap="square" lIns="0" tIns="0" rIns="0" bIns="0" rtlCol="0" anchor="ctr"/>
          <a:lstStyle/>
          <a:p>
            <a:pPr algn="r" indent="0" marL="0">
              <a:buNone/>
            </a:pPr>
            <a:r>
              <a:rPr lang="en-US" sz="1100" spc="300" kern="0" dirty="0">
                <a:solidFill>
                  <a:srgbClr val="6C6A64"/>
                </a:solidFill>
                <a:latin typeface="IBM Plex Mono" pitchFamily="34" charset="0"/>
                <a:ea typeface="IBM Plex Mono" pitchFamily="34" charset="-122"/>
                <a:cs typeface="IBM Plex Mono" pitchFamily="34" charset="-120"/>
              </a:rPr>
              <a:t>02 · THE SOLUTION</a:t>
            </a:r>
            <a:endParaRPr lang="en-US" sz="1100" dirty="0"/>
          </a:p>
        </p:txBody>
      </p:sp>
      <p:sp>
        <p:nvSpPr>
          <p:cNvPr id="7" name="Shape 5"/>
          <p:cNvSpPr/>
          <p:nvPr/>
        </p:nvSpPr>
        <p:spPr>
          <a:xfrm>
            <a:off x="640080" y="868680"/>
            <a:ext cx="10911535" cy="0"/>
          </a:xfrm>
          <a:prstGeom prst="line">
            <a:avLst/>
          </a:prstGeom>
          <a:noFill/>
          <a:ln w="9525">
            <a:solidFill>
              <a:srgbClr val="0A0A0A"/>
            </a:solidFill>
            <a:prstDash val="solid"/>
          </a:ln>
        </p:spPr>
      </p:sp>
      <p:sp>
        <p:nvSpPr>
          <p:cNvPr id="8" name="Shape 6"/>
          <p:cNvSpPr/>
          <p:nvPr/>
        </p:nvSpPr>
        <p:spPr>
          <a:xfrm>
            <a:off x="640080" y="1417320"/>
            <a:ext cx="3291840" cy="3566160"/>
          </a:xfrm>
          <a:prstGeom prst="rect">
            <a:avLst/>
          </a:prstGeom>
          <a:solidFill>
            <a:srgbClr val="0A0A0A"/>
          </a:solidFill>
          <a:ln w="12700">
            <a:solidFill>
              <a:srgbClr val="0A0A0A"/>
            </a:solidFill>
            <a:prstDash val="solid"/>
          </a:ln>
        </p:spPr>
      </p:sp>
      <p:sp>
        <p:nvSpPr>
          <p:cNvPr id="9" name="Text 7"/>
          <p:cNvSpPr/>
          <p:nvPr/>
        </p:nvSpPr>
        <p:spPr>
          <a:xfrm>
            <a:off x="914400" y="1645920"/>
            <a:ext cx="2743200" cy="274320"/>
          </a:xfrm>
          <a:prstGeom prst="rect">
            <a:avLst/>
          </a:prstGeom>
          <a:noFill/>
          <a:ln/>
        </p:spPr>
        <p:txBody>
          <a:bodyPr wrap="square" lIns="0" tIns="0" rIns="0" bIns="0" rtlCol="0" anchor="ctr"/>
          <a:lstStyle/>
          <a:p>
            <a:pPr indent="0" marL="0">
              <a:buNone/>
            </a:pPr>
            <a:r>
              <a:rPr lang="en-US" sz="1100" b="1" spc="300" kern="0" dirty="0">
                <a:solidFill>
                  <a:srgbClr val="F1EEE6"/>
                </a:solidFill>
                <a:latin typeface="IBM Plex Mono" pitchFamily="34" charset="0"/>
                <a:ea typeface="IBM Plex Mono" pitchFamily="34" charset="-122"/>
                <a:cs typeface="IBM Plex Mono" pitchFamily="34" charset="-120"/>
              </a:rPr>
              <a:t>PRIVATE EVALUATOR</a:t>
            </a:r>
            <a:endParaRPr lang="en-US" sz="1100" dirty="0"/>
          </a:p>
        </p:txBody>
      </p:sp>
      <p:sp>
        <p:nvSpPr>
          <p:cNvPr id="10" name="Shape 8"/>
          <p:cNvSpPr/>
          <p:nvPr/>
        </p:nvSpPr>
        <p:spPr>
          <a:xfrm>
            <a:off x="914400" y="2286000"/>
            <a:ext cx="822960" cy="146304"/>
          </a:xfrm>
          <a:prstGeom prst="rect">
            <a:avLst/>
          </a:prstGeom>
          <a:solidFill>
            <a:srgbClr val="6C6A64"/>
          </a:solidFill>
          <a:ln w="12700">
            <a:solidFill>
              <a:srgbClr val="6C6A64"/>
            </a:solidFill>
            <a:prstDash val="solid"/>
          </a:ln>
        </p:spPr>
      </p:sp>
      <p:sp>
        <p:nvSpPr>
          <p:cNvPr id="11" name="Text 9"/>
          <p:cNvSpPr/>
          <p:nvPr/>
        </p:nvSpPr>
        <p:spPr>
          <a:xfrm>
            <a:off x="1874520" y="2176272"/>
            <a:ext cx="2011680" cy="365760"/>
          </a:xfrm>
          <a:prstGeom prst="rect">
            <a:avLst/>
          </a:prstGeom>
          <a:noFill/>
          <a:ln/>
        </p:spPr>
        <p:txBody>
          <a:bodyPr wrap="square" lIns="0" tIns="0" rIns="0" bIns="0" rtlCol="0" anchor="ctr"/>
          <a:lstStyle/>
          <a:p>
            <a:pPr indent="0" marL="0">
              <a:buNone/>
            </a:pPr>
            <a:r>
              <a:rPr lang="en-US" sz="1500" dirty="0">
                <a:solidFill>
                  <a:srgbClr val="F1EEE6"/>
                </a:solidFill>
                <a:latin typeface="Instrument Sans" pitchFamily="34" charset="0"/>
                <a:ea typeface="Instrument Sans" pitchFamily="34" charset="-122"/>
                <a:cs typeface="Instrument Sans" pitchFamily="34" charset="-120"/>
              </a:rPr>
              <a:t>Secret tests</a:t>
            </a:r>
            <a:endParaRPr lang="en-US" sz="1500" dirty="0"/>
          </a:p>
        </p:txBody>
      </p:sp>
      <p:sp>
        <p:nvSpPr>
          <p:cNvPr id="12" name="Shape 10"/>
          <p:cNvSpPr/>
          <p:nvPr/>
        </p:nvSpPr>
        <p:spPr>
          <a:xfrm>
            <a:off x="914400" y="2926080"/>
            <a:ext cx="822960" cy="146304"/>
          </a:xfrm>
          <a:prstGeom prst="rect">
            <a:avLst/>
          </a:prstGeom>
          <a:solidFill>
            <a:srgbClr val="6C6A64"/>
          </a:solidFill>
          <a:ln w="12700">
            <a:solidFill>
              <a:srgbClr val="6C6A64"/>
            </a:solidFill>
            <a:prstDash val="solid"/>
          </a:ln>
        </p:spPr>
      </p:sp>
      <p:sp>
        <p:nvSpPr>
          <p:cNvPr id="13" name="Text 11"/>
          <p:cNvSpPr/>
          <p:nvPr/>
        </p:nvSpPr>
        <p:spPr>
          <a:xfrm>
            <a:off x="1874520" y="2816352"/>
            <a:ext cx="2011680" cy="365760"/>
          </a:xfrm>
          <a:prstGeom prst="rect">
            <a:avLst/>
          </a:prstGeom>
          <a:noFill/>
          <a:ln/>
        </p:spPr>
        <p:txBody>
          <a:bodyPr wrap="square" lIns="0" tIns="0" rIns="0" bIns="0" rtlCol="0" anchor="ctr"/>
          <a:lstStyle/>
          <a:p>
            <a:pPr indent="0" marL="0">
              <a:buNone/>
            </a:pPr>
            <a:r>
              <a:rPr lang="en-US" sz="1500" dirty="0">
                <a:solidFill>
                  <a:srgbClr val="F1EEE6"/>
                </a:solidFill>
                <a:latin typeface="Instrument Sans" pitchFamily="34" charset="0"/>
                <a:ea typeface="Instrument Sans" pitchFamily="34" charset="-122"/>
                <a:cs typeface="Instrument Sans" pitchFamily="34" charset="-120"/>
              </a:rPr>
              <a:t>Model outputs</a:t>
            </a:r>
            <a:endParaRPr lang="en-US" sz="1500" dirty="0"/>
          </a:p>
        </p:txBody>
      </p:sp>
      <p:sp>
        <p:nvSpPr>
          <p:cNvPr id="14" name="Shape 12"/>
          <p:cNvSpPr/>
          <p:nvPr/>
        </p:nvSpPr>
        <p:spPr>
          <a:xfrm>
            <a:off x="914400" y="3566160"/>
            <a:ext cx="822960" cy="146304"/>
          </a:xfrm>
          <a:prstGeom prst="rect">
            <a:avLst/>
          </a:prstGeom>
          <a:solidFill>
            <a:srgbClr val="6C6A64"/>
          </a:solidFill>
          <a:ln w="12700">
            <a:solidFill>
              <a:srgbClr val="6C6A64"/>
            </a:solidFill>
            <a:prstDash val="solid"/>
          </a:ln>
        </p:spPr>
      </p:sp>
      <p:sp>
        <p:nvSpPr>
          <p:cNvPr id="15" name="Text 13"/>
          <p:cNvSpPr/>
          <p:nvPr/>
        </p:nvSpPr>
        <p:spPr>
          <a:xfrm>
            <a:off x="1874520" y="3456432"/>
            <a:ext cx="2011680" cy="365760"/>
          </a:xfrm>
          <a:prstGeom prst="rect">
            <a:avLst/>
          </a:prstGeom>
          <a:noFill/>
          <a:ln/>
        </p:spPr>
        <p:txBody>
          <a:bodyPr wrap="square" lIns="0" tIns="0" rIns="0" bIns="0" rtlCol="0" anchor="ctr"/>
          <a:lstStyle/>
          <a:p>
            <a:pPr indent="0" marL="0">
              <a:buNone/>
            </a:pPr>
            <a:r>
              <a:rPr lang="en-US" sz="1500" dirty="0">
                <a:solidFill>
                  <a:srgbClr val="F1EEE6"/>
                </a:solidFill>
                <a:latin typeface="Instrument Sans" pitchFamily="34" charset="0"/>
                <a:ea typeface="Instrument Sans" pitchFamily="34" charset="-122"/>
                <a:cs typeface="Instrument Sans" pitchFamily="34" charset="-120"/>
              </a:rPr>
              <a:t>Six private results</a:t>
            </a:r>
            <a:endParaRPr lang="en-US" sz="1500" dirty="0"/>
          </a:p>
        </p:txBody>
      </p:sp>
      <p:sp>
        <p:nvSpPr>
          <p:cNvPr id="16" name="Shape 14"/>
          <p:cNvSpPr/>
          <p:nvPr/>
        </p:nvSpPr>
        <p:spPr>
          <a:xfrm>
            <a:off x="914400" y="4206240"/>
            <a:ext cx="822960" cy="146304"/>
          </a:xfrm>
          <a:prstGeom prst="rect">
            <a:avLst/>
          </a:prstGeom>
          <a:solidFill>
            <a:srgbClr val="6C6A64"/>
          </a:solidFill>
          <a:ln w="12700">
            <a:solidFill>
              <a:srgbClr val="6C6A64"/>
            </a:solidFill>
            <a:prstDash val="solid"/>
          </a:ln>
        </p:spPr>
      </p:sp>
      <p:sp>
        <p:nvSpPr>
          <p:cNvPr id="17" name="Text 15"/>
          <p:cNvSpPr/>
          <p:nvPr/>
        </p:nvSpPr>
        <p:spPr>
          <a:xfrm>
            <a:off x="1874520" y="4096512"/>
            <a:ext cx="2011680" cy="365760"/>
          </a:xfrm>
          <a:prstGeom prst="rect">
            <a:avLst/>
          </a:prstGeom>
          <a:noFill/>
          <a:ln/>
        </p:spPr>
        <p:txBody>
          <a:bodyPr wrap="square" lIns="0" tIns="0" rIns="0" bIns="0" rtlCol="0" anchor="ctr"/>
          <a:lstStyle/>
          <a:p>
            <a:pPr indent="0" marL="0">
              <a:buNone/>
            </a:pPr>
            <a:r>
              <a:rPr lang="en-US" sz="1500" dirty="0">
                <a:solidFill>
                  <a:srgbClr val="F1EEE6"/>
                </a:solidFill>
                <a:latin typeface="Instrument Sans" pitchFamily="34" charset="0"/>
                <a:ea typeface="Instrument Sans" pitchFamily="34" charset="-122"/>
                <a:cs typeface="Instrument Sans" pitchFamily="34" charset="-120"/>
              </a:rPr>
              <a:t>Salts · evaluator secret</a:t>
            </a:r>
            <a:endParaRPr lang="en-US" sz="1500" dirty="0"/>
          </a:p>
        </p:txBody>
      </p:sp>
      <p:sp>
        <p:nvSpPr>
          <p:cNvPr id="18" name="Shape 16"/>
          <p:cNvSpPr/>
          <p:nvPr/>
        </p:nvSpPr>
        <p:spPr>
          <a:xfrm>
            <a:off x="4023360" y="3200400"/>
            <a:ext cx="685800" cy="0"/>
          </a:xfrm>
          <a:prstGeom prst="line">
            <a:avLst/>
          </a:prstGeom>
          <a:noFill/>
          <a:ln w="19050">
            <a:solidFill>
              <a:srgbClr val="0A0A0A"/>
            </a:solidFill>
            <a:prstDash val="solid"/>
            <a:tailEnd type="triangle"/>
          </a:ln>
        </p:spPr>
      </p:sp>
      <p:sp>
        <p:nvSpPr>
          <p:cNvPr id="19" name="Text 17"/>
          <p:cNvSpPr/>
          <p:nvPr/>
        </p:nvSpPr>
        <p:spPr>
          <a:xfrm>
            <a:off x="3977640" y="2852928"/>
            <a:ext cx="777240" cy="274320"/>
          </a:xfrm>
          <a:prstGeom prst="rect">
            <a:avLst/>
          </a:prstGeom>
          <a:noFill/>
          <a:ln/>
        </p:spPr>
        <p:txBody>
          <a:bodyPr wrap="square" lIns="0" tIns="0" rIns="0" bIns="0" rtlCol="0" anchor="ctr"/>
          <a:lstStyle/>
          <a:p>
            <a:pPr algn="ctr" indent="0" marL="0">
              <a:buNone/>
            </a:pPr>
            <a:r>
              <a:rPr lang="en-US" sz="900" dirty="0">
                <a:solidFill>
                  <a:srgbClr val="6C6A64"/>
                </a:solidFill>
                <a:latin typeface="IBM Plex Mono" pitchFamily="34" charset="0"/>
                <a:ea typeface="IBM Plex Mono" pitchFamily="34" charset="-122"/>
                <a:cs typeface="IBM Plex Mono" pitchFamily="34" charset="-120"/>
              </a:rPr>
              <a:t>WITNESS</a:t>
            </a:r>
            <a:endParaRPr lang="en-US" sz="900" dirty="0"/>
          </a:p>
        </p:txBody>
      </p:sp>
      <p:sp>
        <p:nvSpPr>
          <p:cNvPr id="20" name="Shape 18"/>
          <p:cNvSpPr/>
          <p:nvPr/>
        </p:nvSpPr>
        <p:spPr>
          <a:xfrm>
            <a:off x="4800600" y="1417320"/>
            <a:ext cx="3291840" cy="3566160"/>
          </a:xfrm>
          <a:prstGeom prst="rect">
            <a:avLst/>
          </a:prstGeom>
          <a:solidFill>
            <a:srgbClr val="F1EEE6"/>
          </a:solidFill>
          <a:ln w="19050">
            <a:solidFill>
              <a:srgbClr val="0A0A0A"/>
            </a:solidFill>
            <a:prstDash val="solid"/>
          </a:ln>
        </p:spPr>
      </p:sp>
      <p:sp>
        <p:nvSpPr>
          <p:cNvPr id="21" name="Text 19"/>
          <p:cNvSpPr/>
          <p:nvPr/>
        </p:nvSpPr>
        <p:spPr>
          <a:xfrm>
            <a:off x="5074920" y="1645920"/>
            <a:ext cx="2743200" cy="274320"/>
          </a:xfrm>
          <a:prstGeom prst="rect">
            <a:avLst/>
          </a:prstGeom>
          <a:noFill/>
          <a:ln/>
        </p:spPr>
        <p:txBody>
          <a:bodyPr wrap="square" lIns="0" tIns="0" rIns="0" bIns="0" rtlCol="0" anchor="ctr"/>
          <a:lstStyle/>
          <a:p>
            <a:pPr indent="0" marL="0">
              <a:buNone/>
            </a:pPr>
            <a:r>
              <a:rPr lang="en-US" sz="1100" b="1" spc="300" kern="0" dirty="0">
                <a:solidFill>
                  <a:srgbClr val="0A0A0A"/>
                </a:solidFill>
                <a:latin typeface="IBM Plex Mono" pitchFamily="34" charset="0"/>
                <a:ea typeface="IBM Plex Mono" pitchFamily="34" charset="-122"/>
                <a:cs typeface="IBM Plex Mono" pitchFamily="34" charset="-120"/>
              </a:rPr>
              <a:t>MIDNIGHT · COMPACT</a:t>
            </a:r>
            <a:endParaRPr lang="en-US" sz="1100" dirty="0"/>
          </a:p>
        </p:txBody>
      </p:sp>
      <p:sp>
        <p:nvSpPr>
          <p:cNvPr id="22" name="Text 20"/>
          <p:cNvSpPr/>
          <p:nvPr/>
        </p:nvSpPr>
        <p:spPr>
          <a:xfrm>
            <a:off x="5074920" y="2011680"/>
            <a:ext cx="2926080" cy="320040"/>
          </a:xfrm>
          <a:prstGeom prst="rect">
            <a:avLst/>
          </a:prstGeom>
          <a:noFill/>
          <a:ln/>
        </p:spPr>
        <p:txBody>
          <a:bodyPr wrap="square" lIns="0" tIns="0" rIns="0" bIns="0" rtlCol="0" anchor="ctr"/>
          <a:lstStyle/>
          <a:p>
            <a:pPr indent="0" marL="0">
              <a:buNone/>
            </a:pPr>
            <a:r>
              <a:rPr lang="en-US" sz="1300" dirty="0">
                <a:solidFill>
                  <a:srgbClr val="6C6A64"/>
                </a:solidFill>
                <a:latin typeface="IBM Plex Mono" pitchFamily="34" charset="0"/>
                <a:ea typeface="IBM Plex Mono" pitchFamily="34" charset="-122"/>
                <a:cs typeface="IBM Plex Mono" pitchFamily="34" charset="-120"/>
              </a:rPr>
              <a:t>circuit attest(model, suite)</a:t>
            </a:r>
            <a:endParaRPr lang="en-US" sz="1300" dirty="0"/>
          </a:p>
        </p:txBody>
      </p:sp>
      <p:sp>
        <p:nvSpPr>
          <p:cNvPr id="23" name="Text 21"/>
          <p:cNvSpPr/>
          <p:nvPr/>
        </p:nvSpPr>
        <p:spPr>
          <a:xfrm>
            <a:off x="5074920" y="2514600"/>
            <a:ext cx="2971800" cy="365760"/>
          </a:xfrm>
          <a:prstGeom prst="rect">
            <a:avLst/>
          </a:prstGeom>
          <a:noFill/>
          <a:ln/>
        </p:spPr>
        <p:txBody>
          <a:bodyPr wrap="square" lIns="0" tIns="0" rIns="0" bIns="0" rtlCol="0" anchor="ctr"/>
          <a:lstStyle/>
          <a:p>
            <a:pPr indent="0" marL="0">
              <a:buNone/>
            </a:pPr>
            <a:r>
              <a:rPr lang="en-US" sz="1400" dirty="0">
                <a:solidFill>
                  <a:srgbClr val="6C6A64"/>
                </a:solidFill>
                <a:latin typeface="IBM Plex Mono" pitchFamily="34" charset="0"/>
                <a:ea typeface="IBM Plex Mono" pitchFamily="34" charset="-122"/>
                <a:cs typeface="IBM Plex Mono" pitchFamily="34" charset="-120"/>
              </a:rPr>
              <a:t>assert </a:t>
            </a:r>
            <a:pPr indent="0" marL="0">
              <a:buNone/>
            </a:pPr>
            <a:r>
              <a:rPr lang="en-US" sz="1400" dirty="0">
                <a:solidFill>
                  <a:srgbClr val="0A0A0A"/>
                </a:solidFill>
                <a:latin typeface="IBM Plex Mono" pitchFamily="34" charset="0"/>
                <a:ea typeface="IBM Plex Mono" pitchFamily="34" charset="-122"/>
                <a:cs typeface="IBM Plex Mono" pitchFamily="34" charset="-120"/>
              </a:rPr>
              <a:t>evaluator key</a:t>
            </a:r>
            <a:endParaRPr lang="en-US" sz="1400" dirty="0"/>
          </a:p>
        </p:txBody>
      </p:sp>
      <p:sp>
        <p:nvSpPr>
          <p:cNvPr id="24" name="Text 22"/>
          <p:cNvSpPr/>
          <p:nvPr/>
        </p:nvSpPr>
        <p:spPr>
          <a:xfrm>
            <a:off x="5074920" y="2971800"/>
            <a:ext cx="2971800" cy="365760"/>
          </a:xfrm>
          <a:prstGeom prst="rect">
            <a:avLst/>
          </a:prstGeom>
          <a:noFill/>
          <a:ln/>
        </p:spPr>
        <p:txBody>
          <a:bodyPr wrap="square" lIns="0" tIns="0" rIns="0" bIns="0" rtlCol="0" anchor="ctr"/>
          <a:lstStyle/>
          <a:p>
            <a:pPr indent="0" marL="0">
              <a:buNone/>
            </a:pPr>
            <a:r>
              <a:rPr lang="en-US" sz="1400" dirty="0">
                <a:solidFill>
                  <a:srgbClr val="6C6A64"/>
                </a:solidFill>
                <a:latin typeface="IBM Plex Mono" pitchFamily="34" charset="0"/>
                <a:ea typeface="IBM Plex Mono" pitchFamily="34" charset="-122"/>
                <a:cs typeface="IBM Plex Mono" pitchFamily="34" charset="-120"/>
              </a:rPr>
              <a:t>assert </a:t>
            </a:r>
            <a:pPr indent="0" marL="0">
              <a:buNone/>
            </a:pPr>
            <a:r>
              <a:rPr lang="en-US" sz="1400" dirty="0">
                <a:solidFill>
                  <a:srgbClr val="0A0A0A"/>
                </a:solidFill>
                <a:latin typeface="IBM Plex Mono" pitchFamily="34" charset="0"/>
                <a:ea typeface="IBM Plex Mono" pitchFamily="34" charset="-122"/>
                <a:cs typeface="IBM Plex Mono" pitchFamily="34" charset="-120"/>
              </a:rPr>
              <a:t>model binding</a:t>
            </a:r>
            <a:endParaRPr lang="en-US" sz="1400" dirty="0"/>
          </a:p>
        </p:txBody>
      </p:sp>
      <p:sp>
        <p:nvSpPr>
          <p:cNvPr id="25" name="Text 23"/>
          <p:cNvSpPr/>
          <p:nvPr/>
        </p:nvSpPr>
        <p:spPr>
          <a:xfrm>
            <a:off x="5074920" y="3429000"/>
            <a:ext cx="2971800" cy="365760"/>
          </a:xfrm>
          <a:prstGeom prst="rect">
            <a:avLst/>
          </a:prstGeom>
          <a:noFill/>
          <a:ln/>
        </p:spPr>
        <p:txBody>
          <a:bodyPr wrap="square" lIns="0" tIns="0" rIns="0" bIns="0" rtlCol="0" anchor="ctr"/>
          <a:lstStyle/>
          <a:p>
            <a:pPr indent="0" marL="0">
              <a:buNone/>
            </a:pPr>
            <a:r>
              <a:rPr lang="en-US" sz="1400" dirty="0">
                <a:solidFill>
                  <a:srgbClr val="6C6A64"/>
                </a:solidFill>
                <a:latin typeface="IBM Plex Mono" pitchFamily="34" charset="0"/>
                <a:ea typeface="IBM Plex Mono" pitchFamily="34" charset="-122"/>
                <a:cs typeface="IBM Plex Mono" pitchFamily="34" charset="-120"/>
              </a:rPr>
              <a:t>assert </a:t>
            </a:r>
            <a:pPr indent="0" marL="0">
              <a:buNone/>
            </a:pPr>
            <a:r>
              <a:rPr lang="en-US" sz="1400" dirty="0">
                <a:solidFill>
                  <a:srgbClr val="0A0A0A"/>
                </a:solidFill>
                <a:latin typeface="IBM Plex Mono" pitchFamily="34" charset="0"/>
                <a:ea typeface="IBM Plex Mono" pitchFamily="34" charset="-122"/>
                <a:cs typeface="IBM Plex Mono" pitchFamily="34" charset="-120"/>
              </a:rPr>
              <a:t>suite binding</a:t>
            </a:r>
            <a:endParaRPr lang="en-US" sz="1400" dirty="0"/>
          </a:p>
        </p:txBody>
      </p:sp>
      <p:sp>
        <p:nvSpPr>
          <p:cNvPr id="26" name="Text 24"/>
          <p:cNvSpPr/>
          <p:nvPr/>
        </p:nvSpPr>
        <p:spPr>
          <a:xfrm>
            <a:off x="5074920" y="3886200"/>
            <a:ext cx="2971800" cy="365760"/>
          </a:xfrm>
          <a:prstGeom prst="rect">
            <a:avLst/>
          </a:prstGeom>
          <a:noFill/>
          <a:ln/>
        </p:spPr>
        <p:txBody>
          <a:bodyPr wrap="square" lIns="0" tIns="0" rIns="0" bIns="0" rtlCol="0" anchor="ctr"/>
          <a:lstStyle/>
          <a:p>
            <a:pPr indent="0" marL="0">
              <a:buNone/>
            </a:pPr>
            <a:r>
              <a:rPr lang="en-US" sz="1400" dirty="0">
                <a:solidFill>
                  <a:srgbClr val="6C6A64"/>
                </a:solidFill>
                <a:latin typeface="IBM Plex Mono" pitchFamily="34" charset="0"/>
                <a:ea typeface="IBM Plex Mono" pitchFamily="34" charset="-122"/>
                <a:cs typeface="IBM Plex Mono" pitchFamily="34" charset="-120"/>
              </a:rPr>
              <a:t>assert </a:t>
            </a:r>
            <a:pPr indent="0" marL="0">
              <a:buNone/>
            </a:pPr>
            <a:r>
              <a:rPr lang="en-US" sz="1400" dirty="0">
                <a:solidFill>
                  <a:srgbClr val="0A0A0A"/>
                </a:solidFill>
                <a:latin typeface="IBM Plex Mono" pitchFamily="34" charset="0"/>
                <a:ea typeface="IBM Plex Mono" pitchFamily="34" charset="-122"/>
                <a:cs typeface="IBM Plex Mono" pitchFamily="34" charset="-120"/>
              </a:rPr>
              <a:t>passes &gt;= threshold</a:t>
            </a:r>
            <a:endParaRPr lang="en-US" sz="1400" dirty="0"/>
          </a:p>
        </p:txBody>
      </p:sp>
      <p:sp>
        <p:nvSpPr>
          <p:cNvPr id="27" name="Text 25"/>
          <p:cNvSpPr/>
          <p:nvPr/>
        </p:nvSpPr>
        <p:spPr>
          <a:xfrm>
            <a:off x="5074920" y="4343400"/>
            <a:ext cx="2971800" cy="365760"/>
          </a:xfrm>
          <a:prstGeom prst="rect">
            <a:avLst/>
          </a:prstGeom>
          <a:noFill/>
          <a:ln/>
        </p:spPr>
        <p:txBody>
          <a:bodyPr wrap="square" lIns="0" tIns="0" rIns="0" bIns="0" rtlCol="0" anchor="ctr"/>
          <a:lstStyle/>
          <a:p>
            <a:pPr indent="0" marL="0">
              <a:buNone/>
            </a:pPr>
            <a:r>
              <a:rPr lang="en-US" sz="1400" dirty="0">
                <a:solidFill>
                  <a:srgbClr val="6C6A64"/>
                </a:solidFill>
                <a:latin typeface="IBM Plex Mono" pitchFamily="34" charset="0"/>
                <a:ea typeface="IBM Plex Mono" pitchFamily="34" charset="-122"/>
                <a:cs typeface="IBM Plex Mono" pitchFamily="34" charset="-120"/>
              </a:rPr>
              <a:t>assert </a:t>
            </a:r>
            <a:pPr indent="0" marL="0">
              <a:buNone/>
            </a:pPr>
            <a:r>
              <a:rPr lang="en-US" sz="1400" dirty="0">
                <a:solidFill>
                  <a:srgbClr val="0A0A0A"/>
                </a:solidFill>
                <a:latin typeface="IBM Plex Mono" pitchFamily="34" charset="0"/>
                <a:ea typeface="IBM Plex Mono" pitchFamily="34" charset="-122"/>
                <a:cs typeface="IBM Plex Mono" pitchFamily="34" charset="-120"/>
              </a:rPr>
              <a:t>release is new</a:t>
            </a:r>
            <a:endParaRPr lang="en-US" sz="1400" dirty="0"/>
          </a:p>
        </p:txBody>
      </p:sp>
      <p:sp>
        <p:nvSpPr>
          <p:cNvPr id="28" name="Shape 26"/>
          <p:cNvSpPr/>
          <p:nvPr/>
        </p:nvSpPr>
        <p:spPr>
          <a:xfrm>
            <a:off x="8183880" y="3200400"/>
            <a:ext cx="685800" cy="0"/>
          </a:xfrm>
          <a:prstGeom prst="line">
            <a:avLst/>
          </a:prstGeom>
          <a:noFill/>
          <a:ln w="19050">
            <a:solidFill>
              <a:srgbClr val="0A0A0A"/>
            </a:solidFill>
            <a:prstDash val="solid"/>
            <a:tailEnd type="triangle"/>
          </a:ln>
        </p:spPr>
      </p:sp>
      <p:sp>
        <p:nvSpPr>
          <p:cNvPr id="29" name="Text 27"/>
          <p:cNvSpPr/>
          <p:nvPr/>
        </p:nvSpPr>
        <p:spPr>
          <a:xfrm>
            <a:off x="8138160" y="2852928"/>
            <a:ext cx="777240" cy="274320"/>
          </a:xfrm>
          <a:prstGeom prst="rect">
            <a:avLst/>
          </a:prstGeom>
          <a:noFill/>
          <a:ln/>
        </p:spPr>
        <p:txBody>
          <a:bodyPr wrap="square" lIns="0" tIns="0" rIns="0" bIns="0" rtlCol="0" anchor="ctr"/>
          <a:lstStyle/>
          <a:p>
            <a:pPr algn="ctr" indent="0" marL="0">
              <a:buNone/>
            </a:pPr>
            <a:r>
              <a:rPr lang="en-US" sz="900" dirty="0">
                <a:solidFill>
                  <a:srgbClr val="6C6A64"/>
                </a:solidFill>
                <a:latin typeface="IBM Plex Mono" pitchFamily="34" charset="0"/>
                <a:ea typeface="IBM Plex Mono" pitchFamily="34" charset="-122"/>
                <a:cs typeface="IBM Plex Mono" pitchFamily="34" charset="-120"/>
              </a:rPr>
              <a:t>DISCLOSE</a:t>
            </a:r>
            <a:endParaRPr lang="en-US" sz="900" dirty="0"/>
          </a:p>
        </p:txBody>
      </p:sp>
      <p:sp>
        <p:nvSpPr>
          <p:cNvPr id="30" name="Shape 28"/>
          <p:cNvSpPr/>
          <p:nvPr/>
        </p:nvSpPr>
        <p:spPr>
          <a:xfrm>
            <a:off x="8961120" y="1417320"/>
            <a:ext cx="2590495" cy="3566160"/>
          </a:xfrm>
          <a:prstGeom prst="rect">
            <a:avLst/>
          </a:prstGeom>
          <a:solidFill>
            <a:srgbClr val="F1EEE6"/>
          </a:solidFill>
          <a:ln w="19050">
            <a:solidFill>
              <a:srgbClr val="0A0A0A"/>
            </a:solidFill>
            <a:prstDash val="solid"/>
          </a:ln>
        </p:spPr>
      </p:sp>
      <p:sp>
        <p:nvSpPr>
          <p:cNvPr id="31" name="Text 29"/>
          <p:cNvSpPr/>
          <p:nvPr/>
        </p:nvSpPr>
        <p:spPr>
          <a:xfrm>
            <a:off x="9235440" y="1645920"/>
            <a:ext cx="2743200" cy="274320"/>
          </a:xfrm>
          <a:prstGeom prst="rect">
            <a:avLst/>
          </a:prstGeom>
          <a:noFill/>
          <a:ln/>
        </p:spPr>
        <p:txBody>
          <a:bodyPr wrap="square" lIns="0" tIns="0" rIns="0" bIns="0" rtlCol="0" anchor="ctr"/>
          <a:lstStyle/>
          <a:p>
            <a:pPr indent="0" marL="0">
              <a:buNone/>
            </a:pPr>
            <a:r>
              <a:rPr lang="en-US" sz="1100" b="1" spc="300" kern="0" dirty="0">
                <a:solidFill>
                  <a:srgbClr val="0A0A0A"/>
                </a:solidFill>
                <a:latin typeface="IBM Plex Mono" pitchFamily="34" charset="0"/>
                <a:ea typeface="IBM Plex Mono" pitchFamily="34" charset="-122"/>
                <a:cs typeface="IBM Plex Mono" pitchFamily="34" charset="-120"/>
              </a:rPr>
              <a:t>PUBLIC ATTESTATION</a:t>
            </a:r>
            <a:endParaRPr lang="en-US" sz="1100" dirty="0"/>
          </a:p>
        </p:txBody>
      </p:sp>
      <p:sp>
        <p:nvSpPr>
          <p:cNvPr id="32" name="Text 30"/>
          <p:cNvSpPr/>
          <p:nvPr/>
        </p:nvSpPr>
        <p:spPr>
          <a:xfrm>
            <a:off x="9235440" y="2194560"/>
            <a:ext cx="2743200" cy="365760"/>
          </a:xfrm>
          <a:prstGeom prst="rect">
            <a:avLst/>
          </a:prstGeom>
          <a:noFill/>
          <a:ln/>
        </p:spPr>
        <p:txBody>
          <a:bodyPr wrap="square" lIns="0" tIns="0" rIns="0" bIns="0" rtlCol="0" anchor="ctr"/>
          <a:lstStyle/>
          <a:p>
            <a:pPr indent="0" marL="0">
              <a:buNone/>
            </a:pPr>
            <a:r>
              <a:rPr lang="en-US" sz="1400" dirty="0">
                <a:solidFill>
                  <a:srgbClr val="0A0A0A"/>
                </a:solidFill>
                <a:latin typeface="IBM Plex Mono" pitchFamily="34" charset="0"/>
                <a:ea typeface="IBM Plex Mono" pitchFamily="34" charset="-122"/>
                <a:cs typeface="IBM Plex Mono" pitchFamily="34" charset="-120"/>
              </a:rPr>
              <a:t>Model commitment</a:t>
            </a:r>
            <a:endParaRPr lang="en-US" sz="1400" dirty="0"/>
          </a:p>
        </p:txBody>
      </p:sp>
      <p:sp>
        <p:nvSpPr>
          <p:cNvPr id="33" name="Text 31"/>
          <p:cNvSpPr/>
          <p:nvPr/>
        </p:nvSpPr>
        <p:spPr>
          <a:xfrm>
            <a:off x="9235440" y="2624328"/>
            <a:ext cx="2743200" cy="365760"/>
          </a:xfrm>
          <a:prstGeom prst="rect">
            <a:avLst/>
          </a:prstGeom>
          <a:noFill/>
          <a:ln/>
        </p:spPr>
        <p:txBody>
          <a:bodyPr wrap="square" lIns="0" tIns="0" rIns="0" bIns="0" rtlCol="0" anchor="ctr"/>
          <a:lstStyle/>
          <a:p>
            <a:pPr indent="0" marL="0">
              <a:buNone/>
            </a:pPr>
            <a:r>
              <a:rPr lang="en-US" sz="1400" dirty="0">
                <a:solidFill>
                  <a:srgbClr val="0A0A0A"/>
                </a:solidFill>
                <a:latin typeface="IBM Plex Mono" pitchFamily="34" charset="0"/>
                <a:ea typeface="IBM Plex Mono" pitchFamily="34" charset="-122"/>
                <a:cs typeface="IBM Plex Mono" pitchFamily="34" charset="-120"/>
              </a:rPr>
              <a:t>Suite commitment</a:t>
            </a:r>
            <a:endParaRPr lang="en-US" sz="1400" dirty="0"/>
          </a:p>
        </p:txBody>
      </p:sp>
      <p:sp>
        <p:nvSpPr>
          <p:cNvPr id="34" name="Text 32"/>
          <p:cNvSpPr/>
          <p:nvPr/>
        </p:nvSpPr>
        <p:spPr>
          <a:xfrm>
            <a:off x="9235440" y="3054096"/>
            <a:ext cx="2743200" cy="365760"/>
          </a:xfrm>
          <a:prstGeom prst="rect">
            <a:avLst/>
          </a:prstGeom>
          <a:noFill/>
          <a:ln/>
        </p:spPr>
        <p:txBody>
          <a:bodyPr wrap="square" lIns="0" tIns="0" rIns="0" bIns="0" rtlCol="0" anchor="ctr"/>
          <a:lstStyle/>
          <a:p>
            <a:pPr indent="0" marL="0">
              <a:buNone/>
            </a:pPr>
            <a:r>
              <a:rPr lang="en-US" sz="1400" dirty="0">
                <a:solidFill>
                  <a:srgbClr val="0A0A0A"/>
                </a:solidFill>
                <a:latin typeface="IBM Plex Mono" pitchFamily="34" charset="0"/>
                <a:ea typeface="IBM Plex Mono" pitchFamily="34" charset="-122"/>
                <a:cs typeface="IBM Plex Mono" pitchFamily="34" charset="-120"/>
              </a:rPr>
              <a:t>Predicate</a:t>
            </a:r>
            <a:endParaRPr lang="en-US" sz="1400" dirty="0"/>
          </a:p>
        </p:txBody>
      </p:sp>
      <p:sp>
        <p:nvSpPr>
          <p:cNvPr id="35" name="Text 33"/>
          <p:cNvSpPr/>
          <p:nvPr/>
        </p:nvSpPr>
        <p:spPr>
          <a:xfrm>
            <a:off x="9235440" y="3483864"/>
            <a:ext cx="2743200" cy="365760"/>
          </a:xfrm>
          <a:prstGeom prst="rect">
            <a:avLst/>
          </a:prstGeom>
          <a:noFill/>
          <a:ln/>
        </p:spPr>
        <p:txBody>
          <a:bodyPr wrap="square" lIns="0" tIns="0" rIns="0" bIns="0" rtlCol="0" anchor="ctr"/>
          <a:lstStyle/>
          <a:p>
            <a:pPr indent="0" marL="0">
              <a:buNone/>
            </a:pPr>
            <a:r>
              <a:rPr lang="en-US" sz="1400" dirty="0">
                <a:solidFill>
                  <a:srgbClr val="0A0A0A"/>
                </a:solidFill>
                <a:latin typeface="IBM Plex Mono" pitchFamily="34" charset="0"/>
                <a:ea typeface="IBM Plex Mono" pitchFamily="34" charset="-122"/>
                <a:cs typeface="IBM Plex Mono" pitchFamily="34" charset="-120"/>
              </a:rPr>
              <a:t>Evidence commitment</a:t>
            </a:r>
            <a:endParaRPr lang="en-US" sz="1400" dirty="0"/>
          </a:p>
        </p:txBody>
      </p:sp>
      <p:sp>
        <p:nvSpPr>
          <p:cNvPr id="36" name="Text 34"/>
          <p:cNvSpPr/>
          <p:nvPr/>
        </p:nvSpPr>
        <p:spPr>
          <a:xfrm>
            <a:off x="9235440" y="3913632"/>
            <a:ext cx="2743200" cy="365760"/>
          </a:xfrm>
          <a:prstGeom prst="rect">
            <a:avLst/>
          </a:prstGeom>
          <a:noFill/>
          <a:ln/>
        </p:spPr>
        <p:txBody>
          <a:bodyPr wrap="square" lIns="0" tIns="0" rIns="0" bIns="0" rtlCol="0" anchor="ctr"/>
          <a:lstStyle/>
          <a:p>
            <a:pPr indent="0" marL="0">
              <a:buNone/>
            </a:pPr>
            <a:r>
              <a:rPr lang="en-US" sz="1400" dirty="0">
                <a:solidFill>
                  <a:srgbClr val="0A0A0A"/>
                </a:solidFill>
                <a:latin typeface="IBM Plex Mono" pitchFamily="34" charset="0"/>
                <a:ea typeface="IBM Plex Mono" pitchFamily="34" charset="-122"/>
                <a:cs typeface="IBM Plex Mono" pitchFamily="34" charset="-120"/>
              </a:rPr>
              <a:t>Evaluator key</a:t>
            </a:r>
            <a:endParaRPr lang="en-US" sz="1400" dirty="0"/>
          </a:p>
        </p:txBody>
      </p:sp>
      <p:sp>
        <p:nvSpPr>
          <p:cNvPr id="37" name="Text 35"/>
          <p:cNvSpPr/>
          <p:nvPr/>
        </p:nvSpPr>
        <p:spPr>
          <a:xfrm>
            <a:off x="9235440" y="4343400"/>
            <a:ext cx="2743200" cy="365760"/>
          </a:xfrm>
          <a:prstGeom prst="rect">
            <a:avLst/>
          </a:prstGeom>
          <a:noFill/>
          <a:ln/>
        </p:spPr>
        <p:txBody>
          <a:bodyPr wrap="square" lIns="0" tIns="0" rIns="0" bIns="0" rtlCol="0" anchor="ctr"/>
          <a:lstStyle/>
          <a:p>
            <a:pPr indent="0" marL="0">
              <a:buNone/>
            </a:pPr>
            <a:r>
              <a:rPr lang="en-US" sz="1400" dirty="0">
                <a:solidFill>
                  <a:srgbClr val="0A0A0A"/>
                </a:solidFill>
                <a:latin typeface="IBM Plex Mono" pitchFamily="34" charset="0"/>
                <a:ea typeface="IBM Plex Mono" pitchFamily="34" charset="-122"/>
                <a:cs typeface="IBM Plex Mono" pitchFamily="34" charset="-120"/>
              </a:rPr>
              <a:t>Attestation id</a:t>
            </a:r>
            <a:endParaRPr lang="en-US" sz="1400" dirty="0"/>
          </a:p>
        </p:txBody>
      </p:sp>
      <p:sp>
        <p:nvSpPr>
          <p:cNvPr id="38" name="Text 36"/>
          <p:cNvSpPr/>
          <p:nvPr/>
        </p:nvSpPr>
        <p:spPr>
          <a:xfrm>
            <a:off x="640080" y="5349240"/>
            <a:ext cx="10911535" cy="731520"/>
          </a:xfrm>
          <a:prstGeom prst="rect">
            <a:avLst/>
          </a:prstGeom>
          <a:noFill/>
          <a:ln/>
        </p:spPr>
        <p:txBody>
          <a:bodyPr wrap="square" lIns="0" tIns="0" rIns="0" bIns="0" rtlCol="0" anchor="ctr"/>
          <a:lstStyle/>
          <a:p>
            <a:pPr indent="0" marL="0">
              <a:buNone/>
            </a:pPr>
            <a:r>
              <a:rPr lang="en-US" sz="3600" dirty="0">
                <a:solidFill>
                  <a:srgbClr val="0A0A0A"/>
                </a:solidFill>
                <a:latin typeface="Instrument Serif" pitchFamily="34" charset="0"/>
                <a:ea typeface="Instrument Serif" pitchFamily="34" charset="-122"/>
                <a:cs typeface="Instrument Serif" pitchFamily="34" charset="-120"/>
              </a:rPr>
              <a:t>The proof is public. </a:t>
            </a:r>
            <a:pPr indent="0" marL="0">
              <a:buNone/>
            </a:pPr>
            <a:r>
              <a:rPr lang="en-US" sz="3600" dirty="0">
                <a:solidFill>
                  <a:srgbClr val="6C6A64"/>
                </a:solidFill>
                <a:latin typeface="Instrument Serif" pitchFamily="34" charset="0"/>
                <a:ea typeface="Instrument Serif" pitchFamily="34" charset="-122"/>
                <a:cs typeface="Instrument Serif" pitchFamily="34" charset="-120"/>
              </a:rPr>
              <a:t>The evidence isn't.</a:t>
            </a:r>
            <a:endParaRPr lang="en-US" sz="3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EEE6"/>
        </a:solidFill>
      </p:bgPr>
    </p:bg>
    <p:spTree>
      <p:nvGrpSpPr>
        <p:cNvPr id="1" name=""/>
        <p:cNvGrpSpPr/>
        <p:nvPr/>
      </p:nvGrpSpPr>
      <p:grpSpPr>
        <a:xfrm>
          <a:off x="0" y="0"/>
          <a:ext cx="0" cy="0"/>
          <a:chOff x="0" y="0"/>
          <a:chExt cx="0" cy="0"/>
        </a:xfrm>
      </p:grpSpPr>
      <p:sp>
        <p:nvSpPr>
          <p:cNvPr id="2" name="Shape 0"/>
          <p:cNvSpPr/>
          <p:nvPr/>
        </p:nvSpPr>
        <p:spPr>
          <a:xfrm>
            <a:off x="658368" y="466344"/>
            <a:ext cx="91440" cy="182880"/>
          </a:xfrm>
          <a:prstGeom prst="rect">
            <a:avLst/>
          </a:prstGeom>
          <a:solidFill>
            <a:srgbClr val="0A0A0A"/>
          </a:solidFill>
          <a:ln w="12700">
            <a:solidFill>
              <a:srgbClr val="0A0A0A"/>
            </a:solidFill>
            <a:prstDash val="solid"/>
          </a:ln>
        </p:spPr>
      </p:sp>
      <p:sp>
        <p:nvSpPr>
          <p:cNvPr id="3" name="Shape 1"/>
          <p:cNvSpPr/>
          <p:nvPr/>
        </p:nvSpPr>
        <p:spPr>
          <a:xfrm>
            <a:off x="768096" y="429768"/>
            <a:ext cx="36576" cy="256032"/>
          </a:xfrm>
          <a:prstGeom prst="rect">
            <a:avLst/>
          </a:prstGeom>
          <a:solidFill>
            <a:srgbClr val="0A0A0A"/>
          </a:solidFill>
          <a:ln w="12700">
            <a:solidFill>
              <a:srgbClr val="0A0A0A"/>
            </a:solidFill>
            <a:prstDash val="solid"/>
          </a:ln>
        </p:spPr>
      </p:sp>
      <p:sp>
        <p:nvSpPr>
          <p:cNvPr id="4" name="Shape 2"/>
          <p:cNvSpPr/>
          <p:nvPr/>
        </p:nvSpPr>
        <p:spPr>
          <a:xfrm>
            <a:off x="832104" y="475488"/>
            <a:ext cx="73152" cy="164592"/>
          </a:xfrm>
          <a:prstGeom prst="rect">
            <a:avLst/>
          </a:prstGeom>
          <a:ln w="18288">
            <a:solidFill>
              <a:srgbClr val="0A0A0A"/>
            </a:solidFill>
            <a:prstDash val="solid"/>
          </a:ln>
        </p:spPr>
      </p:sp>
      <p:sp>
        <p:nvSpPr>
          <p:cNvPr id="5" name="Text 3"/>
          <p:cNvSpPr/>
          <p:nvPr/>
        </p:nvSpPr>
        <p:spPr>
          <a:xfrm>
            <a:off x="1051560" y="429768"/>
            <a:ext cx="2743200" cy="274320"/>
          </a:xfrm>
          <a:prstGeom prst="rect">
            <a:avLst/>
          </a:prstGeom>
          <a:noFill/>
          <a:ln/>
        </p:spPr>
        <p:txBody>
          <a:bodyPr wrap="square" lIns="0" tIns="0" rIns="0" bIns="0" rtlCol="0" anchor="ctr"/>
          <a:lstStyle/>
          <a:p>
            <a:pPr indent="0" marL="0">
              <a:buNone/>
            </a:pPr>
            <a:r>
              <a:rPr lang="en-US" sz="1100" b="1" spc="300" kern="0" dirty="0">
                <a:solidFill>
                  <a:srgbClr val="0A0A0A"/>
                </a:solidFill>
                <a:latin typeface="IBM Plex Mono" pitchFamily="34" charset="0"/>
                <a:ea typeface="IBM Plex Mono" pitchFamily="34" charset="-122"/>
                <a:cs typeface="IBM Plex Mono" pitchFamily="34" charset="-120"/>
              </a:rPr>
              <a:t>CLOSED BOOK</a:t>
            </a:r>
            <a:endParaRPr lang="en-US" sz="1100" dirty="0"/>
          </a:p>
        </p:txBody>
      </p:sp>
      <p:sp>
        <p:nvSpPr>
          <p:cNvPr id="6" name="Text 4"/>
          <p:cNvSpPr/>
          <p:nvPr/>
        </p:nvSpPr>
        <p:spPr>
          <a:xfrm>
            <a:off x="7894015" y="429768"/>
            <a:ext cx="3657600" cy="274320"/>
          </a:xfrm>
          <a:prstGeom prst="rect">
            <a:avLst/>
          </a:prstGeom>
          <a:noFill/>
          <a:ln/>
        </p:spPr>
        <p:txBody>
          <a:bodyPr wrap="square" lIns="0" tIns="0" rIns="0" bIns="0" rtlCol="0" anchor="ctr"/>
          <a:lstStyle/>
          <a:p>
            <a:pPr algn="r" indent="0" marL="0">
              <a:buNone/>
            </a:pPr>
            <a:r>
              <a:rPr lang="en-US" sz="1100" spc="300" kern="0" dirty="0">
                <a:solidFill>
                  <a:srgbClr val="6C6A64"/>
                </a:solidFill>
                <a:latin typeface="IBM Plex Mono" pitchFamily="34" charset="0"/>
                <a:ea typeface="IBM Plex Mono" pitchFamily="34" charset="-122"/>
                <a:cs typeface="IBM Plex Mono" pitchFamily="34" charset="-120"/>
              </a:rPr>
              <a:t>03 · THE DEMO</a:t>
            </a:r>
            <a:endParaRPr lang="en-US" sz="1100" dirty="0"/>
          </a:p>
        </p:txBody>
      </p:sp>
      <p:sp>
        <p:nvSpPr>
          <p:cNvPr id="7" name="Shape 5"/>
          <p:cNvSpPr/>
          <p:nvPr/>
        </p:nvSpPr>
        <p:spPr>
          <a:xfrm>
            <a:off x="640080" y="868680"/>
            <a:ext cx="10911535" cy="0"/>
          </a:xfrm>
          <a:prstGeom prst="line">
            <a:avLst/>
          </a:prstGeom>
          <a:noFill/>
          <a:ln w="9525">
            <a:solidFill>
              <a:srgbClr val="0A0A0A"/>
            </a:solidFill>
            <a:prstDash val="solid"/>
          </a:ln>
        </p:spPr>
      </p:sp>
      <p:sp>
        <p:nvSpPr>
          <p:cNvPr id="8" name="Text 6"/>
          <p:cNvSpPr/>
          <p:nvPr/>
        </p:nvSpPr>
        <p:spPr>
          <a:xfrm>
            <a:off x="640080" y="1051560"/>
            <a:ext cx="10911535" cy="914400"/>
          </a:xfrm>
          <a:prstGeom prst="rect">
            <a:avLst/>
          </a:prstGeom>
          <a:noFill/>
          <a:ln/>
        </p:spPr>
        <p:txBody>
          <a:bodyPr wrap="square" lIns="0" tIns="0" rIns="0" bIns="0" rtlCol="0" anchor="t"/>
          <a:lstStyle/>
          <a:p>
            <a:pPr indent="0" marL="0">
              <a:buNone/>
            </a:pPr>
            <a:r>
              <a:rPr lang="en-US" sz="3600" dirty="0">
                <a:solidFill>
                  <a:srgbClr val="0A0A0A"/>
                </a:solidFill>
                <a:latin typeface="Instrument Serif" pitchFamily="34" charset="0"/>
                <a:ea typeface="Instrument Serif" pitchFamily="34" charset="-122"/>
                <a:cs typeface="Instrument Serif" pitchFamily="34" charset="-120"/>
              </a:rPr>
              <a:t>One demo, two outcomes.</a:t>
            </a:r>
            <a:endParaRPr lang="en-US" sz="3600" dirty="0"/>
          </a:p>
        </p:txBody>
      </p:sp>
      <p:pic>
        <p:nvPicPr>
          <p:cNvPr id="9" name="Image 0" descr="D:\BeBe_personal\CLOSEDBOOK\docs\screenshots\demo-pass.png">    </p:cNvPr>
          <p:cNvPicPr>
            <a:picLocks noChangeAspect="1"/>
          </p:cNvPicPr>
          <p:nvPr/>
        </p:nvPicPr>
        <p:blipFill>
          <a:blip r:embed="rId1"/>
          <a:stretch>
            <a:fillRect/>
          </a:stretch>
        </p:blipFill>
        <p:spPr>
          <a:xfrm>
            <a:off x="640080" y="1965960"/>
            <a:ext cx="5257800" cy="3337226"/>
          </a:xfrm>
          <a:prstGeom prst="rect">
            <a:avLst/>
          </a:prstGeom>
        </p:spPr>
      </p:pic>
      <p:pic>
        <p:nvPicPr>
          <p:cNvPr id="10" name="Image 1" descr="D:\BeBe_personal\CLOSEDBOOK\docs\screenshots\demo-refused.png">    </p:cNvPr>
          <p:cNvPicPr>
            <a:picLocks noChangeAspect="1"/>
          </p:cNvPicPr>
          <p:nvPr/>
        </p:nvPicPr>
        <p:blipFill>
          <a:blip r:embed="rId2"/>
          <a:stretch>
            <a:fillRect/>
          </a:stretch>
        </p:blipFill>
        <p:spPr>
          <a:xfrm>
            <a:off x="6293815" y="1965960"/>
            <a:ext cx="5257800" cy="3253186"/>
          </a:xfrm>
          <a:prstGeom prst="rect">
            <a:avLst/>
          </a:prstGeom>
        </p:spPr>
      </p:pic>
      <p:sp>
        <p:nvSpPr>
          <p:cNvPr id="11" name="Text 7"/>
          <p:cNvSpPr/>
          <p:nvPr/>
        </p:nvSpPr>
        <p:spPr>
          <a:xfrm>
            <a:off x="640080" y="5440680"/>
            <a:ext cx="5257800" cy="365760"/>
          </a:xfrm>
          <a:prstGeom prst="rect">
            <a:avLst/>
          </a:prstGeom>
          <a:noFill/>
          <a:ln/>
        </p:spPr>
        <p:txBody>
          <a:bodyPr wrap="square" lIns="0" tIns="0" rIns="0" bIns="0" rtlCol="0" anchor="ctr"/>
          <a:lstStyle/>
          <a:p>
            <a:pPr indent="0" marL="0">
              <a:buNone/>
            </a:pPr>
            <a:r>
              <a:rPr lang="en-US" sz="1600" b="1" dirty="0">
                <a:solidFill>
                  <a:srgbClr val="0A0A0A"/>
                </a:solidFill>
                <a:latin typeface="IBM Plex Mono" pitchFamily="34" charset="0"/>
                <a:ea typeface="IBM Plex Mono" pitchFamily="34" charset="-122"/>
                <a:cs typeface="IBM Plex Mono" pitchFamily="34" charset="-120"/>
              </a:rPr>
              <a:t>6 / 6 PASS  </a:t>
            </a:r>
            <a:pPr indent="0" marL="0">
              <a:buNone/>
            </a:pPr>
            <a:r>
              <a:rPr lang="en-US" sz="1600" dirty="0">
                <a:solidFill>
                  <a:srgbClr val="0A0A0A"/>
                </a:solidFill>
                <a:latin typeface="IBM Plex Mono" pitchFamily="34" charset="0"/>
                <a:ea typeface="IBM Plex Mono" pitchFamily="34" charset="-122"/>
                <a:cs typeface="IBM Plex Mono" pitchFamily="34" charset="-120"/>
              </a:rPr>
              <a:t>→ attestation produced</a:t>
            </a:r>
            <a:endParaRPr lang="en-US" sz="1600" dirty="0"/>
          </a:p>
        </p:txBody>
      </p:sp>
      <p:sp>
        <p:nvSpPr>
          <p:cNvPr id="12" name="Text 8"/>
          <p:cNvSpPr/>
          <p:nvPr/>
        </p:nvSpPr>
        <p:spPr>
          <a:xfrm>
            <a:off x="6293815" y="5440680"/>
            <a:ext cx="5257800" cy="365760"/>
          </a:xfrm>
          <a:prstGeom prst="rect">
            <a:avLst/>
          </a:prstGeom>
          <a:noFill/>
          <a:ln/>
        </p:spPr>
        <p:txBody>
          <a:bodyPr wrap="square" lIns="0" tIns="0" rIns="0" bIns="0" rtlCol="0" anchor="ctr"/>
          <a:lstStyle/>
          <a:p>
            <a:pPr indent="0" marL="0">
              <a:buNone/>
            </a:pPr>
            <a:r>
              <a:rPr lang="en-US" sz="1600" b="1" dirty="0">
                <a:solidFill>
                  <a:srgbClr val="E95136"/>
                </a:solidFill>
                <a:latin typeface="IBM Plex Mono" pitchFamily="34" charset="0"/>
                <a:ea typeface="IBM Plex Mono" pitchFamily="34" charset="-122"/>
                <a:cs typeface="IBM Plex Mono" pitchFamily="34" charset="-120"/>
              </a:rPr>
              <a:t>5 / 6  </a:t>
            </a:r>
            <a:pPr indent="0" marL="0">
              <a:buNone/>
            </a:pPr>
            <a:r>
              <a:rPr lang="en-US" sz="1600" dirty="0">
                <a:solidFill>
                  <a:srgbClr val="0A0A0A"/>
                </a:solidFill>
                <a:latin typeface="IBM Plex Mono" pitchFamily="34" charset="0"/>
                <a:ea typeface="IBM Plex Mono" pitchFamily="34" charset="-122"/>
                <a:cs typeface="IBM Plex Mono" pitchFamily="34" charset="-120"/>
              </a:rPr>
              <a:t>→ attestation refused</a:t>
            </a:r>
            <a:endParaRPr lang="en-US" sz="1600" dirty="0"/>
          </a:p>
        </p:txBody>
      </p:sp>
      <p:sp>
        <p:nvSpPr>
          <p:cNvPr id="13" name="Text 9"/>
          <p:cNvSpPr/>
          <p:nvPr/>
        </p:nvSpPr>
        <p:spPr>
          <a:xfrm>
            <a:off x="640080" y="5943600"/>
            <a:ext cx="10911535" cy="502920"/>
          </a:xfrm>
          <a:prstGeom prst="rect">
            <a:avLst/>
          </a:prstGeom>
          <a:noFill/>
          <a:ln/>
        </p:spPr>
        <p:txBody>
          <a:bodyPr wrap="square" lIns="0" tIns="0" rIns="0" bIns="0" rtlCol="0" anchor="ctr"/>
          <a:lstStyle/>
          <a:p>
            <a:pPr indent="0" marL="0">
              <a:buNone/>
            </a:pPr>
            <a:r>
              <a:rPr lang="en-US" sz="2800" i="1" dirty="0">
                <a:solidFill>
                  <a:srgbClr val="0A0A0A"/>
                </a:solidFill>
                <a:latin typeface="Instrument Serif" pitchFamily="34" charset="0"/>
                <a:ea typeface="Instrument Serif" pitchFamily="34" charset="-122"/>
                <a:cs typeface="Instrument Serif" pitchFamily="34" charset="-120"/>
              </a:rPr>
              <a:t>The public does not learn which test failed.</a:t>
            </a:r>
            <a:endParaRPr 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EEE6"/>
        </a:solidFill>
      </p:bgPr>
    </p:bg>
    <p:spTree>
      <p:nvGrpSpPr>
        <p:cNvPr id="1" name=""/>
        <p:cNvGrpSpPr/>
        <p:nvPr/>
      </p:nvGrpSpPr>
      <p:grpSpPr>
        <a:xfrm>
          <a:off x="0" y="0"/>
          <a:ext cx="0" cy="0"/>
          <a:chOff x="0" y="0"/>
          <a:chExt cx="0" cy="0"/>
        </a:xfrm>
      </p:grpSpPr>
      <p:sp>
        <p:nvSpPr>
          <p:cNvPr id="2" name="Shape 0"/>
          <p:cNvSpPr/>
          <p:nvPr/>
        </p:nvSpPr>
        <p:spPr>
          <a:xfrm>
            <a:off x="658368" y="466344"/>
            <a:ext cx="91440" cy="182880"/>
          </a:xfrm>
          <a:prstGeom prst="rect">
            <a:avLst/>
          </a:prstGeom>
          <a:solidFill>
            <a:srgbClr val="0A0A0A"/>
          </a:solidFill>
          <a:ln w="12700">
            <a:solidFill>
              <a:srgbClr val="0A0A0A"/>
            </a:solidFill>
            <a:prstDash val="solid"/>
          </a:ln>
        </p:spPr>
      </p:sp>
      <p:sp>
        <p:nvSpPr>
          <p:cNvPr id="3" name="Shape 1"/>
          <p:cNvSpPr/>
          <p:nvPr/>
        </p:nvSpPr>
        <p:spPr>
          <a:xfrm>
            <a:off x="768096" y="429768"/>
            <a:ext cx="36576" cy="256032"/>
          </a:xfrm>
          <a:prstGeom prst="rect">
            <a:avLst/>
          </a:prstGeom>
          <a:solidFill>
            <a:srgbClr val="0A0A0A"/>
          </a:solidFill>
          <a:ln w="12700">
            <a:solidFill>
              <a:srgbClr val="0A0A0A"/>
            </a:solidFill>
            <a:prstDash val="solid"/>
          </a:ln>
        </p:spPr>
      </p:sp>
      <p:sp>
        <p:nvSpPr>
          <p:cNvPr id="4" name="Shape 2"/>
          <p:cNvSpPr/>
          <p:nvPr/>
        </p:nvSpPr>
        <p:spPr>
          <a:xfrm>
            <a:off x="832104" y="475488"/>
            <a:ext cx="73152" cy="164592"/>
          </a:xfrm>
          <a:prstGeom prst="rect">
            <a:avLst/>
          </a:prstGeom>
          <a:ln w="18288">
            <a:solidFill>
              <a:srgbClr val="0A0A0A"/>
            </a:solidFill>
            <a:prstDash val="solid"/>
          </a:ln>
        </p:spPr>
      </p:sp>
      <p:sp>
        <p:nvSpPr>
          <p:cNvPr id="5" name="Text 3"/>
          <p:cNvSpPr/>
          <p:nvPr/>
        </p:nvSpPr>
        <p:spPr>
          <a:xfrm>
            <a:off x="1051560" y="429768"/>
            <a:ext cx="2743200" cy="274320"/>
          </a:xfrm>
          <a:prstGeom prst="rect">
            <a:avLst/>
          </a:prstGeom>
          <a:noFill/>
          <a:ln/>
        </p:spPr>
        <p:txBody>
          <a:bodyPr wrap="square" lIns="0" tIns="0" rIns="0" bIns="0" rtlCol="0" anchor="ctr"/>
          <a:lstStyle/>
          <a:p>
            <a:pPr indent="0" marL="0">
              <a:buNone/>
            </a:pPr>
            <a:r>
              <a:rPr lang="en-US" sz="1100" b="1" spc="300" kern="0" dirty="0">
                <a:solidFill>
                  <a:srgbClr val="0A0A0A"/>
                </a:solidFill>
                <a:latin typeface="IBM Plex Mono" pitchFamily="34" charset="0"/>
                <a:ea typeface="IBM Plex Mono" pitchFamily="34" charset="-122"/>
                <a:cs typeface="IBM Plex Mono" pitchFamily="34" charset="-120"/>
              </a:rPr>
              <a:t>CLOSED BOOK</a:t>
            </a:r>
            <a:endParaRPr lang="en-US" sz="1100" dirty="0"/>
          </a:p>
        </p:txBody>
      </p:sp>
      <p:sp>
        <p:nvSpPr>
          <p:cNvPr id="6" name="Text 4"/>
          <p:cNvSpPr/>
          <p:nvPr/>
        </p:nvSpPr>
        <p:spPr>
          <a:xfrm>
            <a:off x="7894015" y="429768"/>
            <a:ext cx="3657600" cy="274320"/>
          </a:xfrm>
          <a:prstGeom prst="rect">
            <a:avLst/>
          </a:prstGeom>
          <a:noFill/>
          <a:ln/>
        </p:spPr>
        <p:txBody>
          <a:bodyPr wrap="square" lIns="0" tIns="0" rIns="0" bIns="0" rtlCol="0" anchor="ctr"/>
          <a:lstStyle/>
          <a:p>
            <a:pPr algn="r" indent="0" marL="0">
              <a:buNone/>
            </a:pPr>
            <a:r>
              <a:rPr lang="en-US" sz="1100" spc="300" kern="0" dirty="0">
                <a:solidFill>
                  <a:srgbClr val="6C6A64"/>
                </a:solidFill>
                <a:latin typeface="IBM Plex Mono" pitchFamily="34" charset="0"/>
                <a:ea typeface="IBM Plex Mono" pitchFamily="34" charset="-122"/>
                <a:cs typeface="IBM Plex Mono" pitchFamily="34" charset="-120"/>
              </a:rPr>
              <a:t>04 · MIDNIGHT</a:t>
            </a:r>
            <a:endParaRPr lang="en-US" sz="1100" dirty="0"/>
          </a:p>
        </p:txBody>
      </p:sp>
      <p:sp>
        <p:nvSpPr>
          <p:cNvPr id="7" name="Shape 5"/>
          <p:cNvSpPr/>
          <p:nvPr/>
        </p:nvSpPr>
        <p:spPr>
          <a:xfrm>
            <a:off x="640080" y="868680"/>
            <a:ext cx="10911535" cy="0"/>
          </a:xfrm>
          <a:prstGeom prst="line">
            <a:avLst/>
          </a:prstGeom>
          <a:noFill/>
          <a:ln w="9525">
            <a:solidFill>
              <a:srgbClr val="0A0A0A"/>
            </a:solidFill>
            <a:prstDash val="solid"/>
          </a:ln>
        </p:spPr>
      </p:sp>
      <p:sp>
        <p:nvSpPr>
          <p:cNvPr id="8" name="Text 6"/>
          <p:cNvSpPr/>
          <p:nvPr/>
        </p:nvSpPr>
        <p:spPr>
          <a:xfrm>
            <a:off x="640080" y="1051560"/>
            <a:ext cx="10911535" cy="914400"/>
          </a:xfrm>
          <a:prstGeom prst="rect">
            <a:avLst/>
          </a:prstGeom>
          <a:noFill/>
          <a:ln/>
        </p:spPr>
        <p:txBody>
          <a:bodyPr wrap="square" lIns="0" tIns="0" rIns="0" bIns="0" rtlCol="0" anchor="t"/>
          <a:lstStyle/>
          <a:p>
            <a:pPr indent="0" marL="0">
              <a:buNone/>
            </a:pPr>
            <a:r>
              <a:rPr lang="en-US" sz="3600" dirty="0">
                <a:solidFill>
                  <a:srgbClr val="0A0A0A"/>
                </a:solidFill>
                <a:latin typeface="Instrument Serif" pitchFamily="34" charset="0"/>
                <a:ea typeface="Instrument Serif" pitchFamily="34" charset="-122"/>
                <a:cs typeface="Instrument Serif" pitchFamily="34" charset="-120"/>
              </a:rPr>
              <a:t>What the Compact circuit proves.</a:t>
            </a:r>
            <a:endParaRPr lang="en-US" sz="3600" dirty="0"/>
          </a:p>
        </p:txBody>
      </p:sp>
      <p:sp>
        <p:nvSpPr>
          <p:cNvPr id="9" name="Shape 7"/>
          <p:cNvSpPr/>
          <p:nvPr/>
        </p:nvSpPr>
        <p:spPr>
          <a:xfrm>
            <a:off x="640080" y="2103120"/>
            <a:ext cx="2045147" cy="0"/>
          </a:xfrm>
          <a:prstGeom prst="line">
            <a:avLst/>
          </a:prstGeom>
          <a:noFill/>
          <a:ln w="15875">
            <a:solidFill>
              <a:srgbClr val="0A0A0A"/>
            </a:solidFill>
            <a:prstDash val="solid"/>
          </a:ln>
        </p:spPr>
      </p:sp>
      <p:sp>
        <p:nvSpPr>
          <p:cNvPr id="10" name="Text 8"/>
          <p:cNvSpPr/>
          <p:nvPr/>
        </p:nvSpPr>
        <p:spPr>
          <a:xfrm>
            <a:off x="640080" y="2240280"/>
            <a:ext cx="1999427" cy="457200"/>
          </a:xfrm>
          <a:prstGeom prst="rect">
            <a:avLst/>
          </a:prstGeom>
          <a:noFill/>
          <a:ln/>
        </p:spPr>
        <p:txBody>
          <a:bodyPr wrap="square" lIns="0" tIns="0" rIns="0" bIns="0" rtlCol="0" anchor="ctr"/>
          <a:lstStyle/>
          <a:p>
            <a:pPr indent="0" marL="0">
              <a:buNone/>
            </a:pPr>
            <a:r>
              <a:rPr lang="en-US" sz="1800" dirty="0">
                <a:solidFill>
                  <a:srgbClr val="6C6A64"/>
                </a:solidFill>
                <a:latin typeface="IBM Plex Mono" pitchFamily="34" charset="0"/>
                <a:ea typeface="IBM Plex Mono" pitchFamily="34" charset="-122"/>
                <a:cs typeface="IBM Plex Mono" pitchFamily="34" charset="-120"/>
              </a:rPr>
              <a:t>01</a:t>
            </a:r>
            <a:endParaRPr lang="en-US" sz="1800" dirty="0"/>
          </a:p>
        </p:txBody>
      </p:sp>
      <p:sp>
        <p:nvSpPr>
          <p:cNvPr id="11" name="Text 9"/>
          <p:cNvSpPr/>
          <p:nvPr/>
        </p:nvSpPr>
        <p:spPr>
          <a:xfrm>
            <a:off x="640080" y="2834640"/>
            <a:ext cx="1999427" cy="274320"/>
          </a:xfrm>
          <a:prstGeom prst="rect">
            <a:avLst/>
          </a:prstGeom>
          <a:noFill/>
          <a:ln/>
        </p:spPr>
        <p:txBody>
          <a:bodyPr wrap="square" lIns="0" tIns="0" rIns="0" bIns="0" rtlCol="0" anchor="ctr"/>
          <a:lstStyle/>
          <a:p>
            <a:pPr indent="0" marL="0">
              <a:buNone/>
            </a:pPr>
            <a:r>
              <a:rPr lang="en-US" sz="1100" b="1" spc="300" kern="0" dirty="0">
                <a:solidFill>
                  <a:srgbClr val="0A0A0A"/>
                </a:solidFill>
                <a:latin typeface="IBM Plex Mono" pitchFamily="34" charset="0"/>
                <a:ea typeface="IBM Plex Mono" pitchFamily="34" charset="-122"/>
                <a:cs typeface="IBM Plex Mono" pitchFamily="34" charset="-120"/>
              </a:rPr>
              <a:t>AUTHORIZATION</a:t>
            </a:r>
            <a:endParaRPr lang="en-US" sz="1100" dirty="0"/>
          </a:p>
        </p:txBody>
      </p:sp>
      <p:sp>
        <p:nvSpPr>
          <p:cNvPr id="12" name="Text 10"/>
          <p:cNvSpPr/>
          <p:nvPr/>
        </p:nvSpPr>
        <p:spPr>
          <a:xfrm>
            <a:off x="640080" y="3200400"/>
            <a:ext cx="1953707" cy="822960"/>
          </a:xfrm>
          <a:prstGeom prst="rect">
            <a:avLst/>
          </a:prstGeom>
          <a:noFill/>
          <a:ln/>
        </p:spPr>
        <p:txBody>
          <a:bodyPr wrap="square" lIns="0" tIns="0" rIns="0" bIns="0" rtlCol="0" anchor="t"/>
          <a:lstStyle/>
          <a:p>
            <a:pPr indent="0" marL="0">
              <a:buNone/>
            </a:pPr>
            <a:r>
              <a:rPr lang="en-US" sz="1600" dirty="0">
                <a:solidFill>
                  <a:srgbClr val="0A0A0A"/>
                </a:solidFill>
                <a:latin typeface="Instrument Sans" pitchFamily="34" charset="0"/>
                <a:ea typeface="Instrument Sans" pitchFamily="34" charset="-122"/>
                <a:cs typeface="Instrument Sans" pitchFamily="34" charset="-120"/>
              </a:rPr>
              <a:t>Registered evaluator</a:t>
            </a:r>
            <a:endParaRPr lang="en-US" sz="1600" dirty="0"/>
          </a:p>
        </p:txBody>
      </p:sp>
      <p:sp>
        <p:nvSpPr>
          <p:cNvPr id="13" name="Shape 11"/>
          <p:cNvSpPr/>
          <p:nvPr/>
        </p:nvSpPr>
        <p:spPr>
          <a:xfrm>
            <a:off x="2822387" y="2103120"/>
            <a:ext cx="2045147" cy="0"/>
          </a:xfrm>
          <a:prstGeom prst="line">
            <a:avLst/>
          </a:prstGeom>
          <a:noFill/>
          <a:ln w="15875">
            <a:solidFill>
              <a:srgbClr val="0A0A0A"/>
            </a:solidFill>
            <a:prstDash val="solid"/>
          </a:ln>
        </p:spPr>
      </p:sp>
      <p:sp>
        <p:nvSpPr>
          <p:cNvPr id="14" name="Text 12"/>
          <p:cNvSpPr/>
          <p:nvPr/>
        </p:nvSpPr>
        <p:spPr>
          <a:xfrm>
            <a:off x="2822387" y="2240280"/>
            <a:ext cx="1999427" cy="457200"/>
          </a:xfrm>
          <a:prstGeom prst="rect">
            <a:avLst/>
          </a:prstGeom>
          <a:noFill/>
          <a:ln/>
        </p:spPr>
        <p:txBody>
          <a:bodyPr wrap="square" lIns="0" tIns="0" rIns="0" bIns="0" rtlCol="0" anchor="ctr"/>
          <a:lstStyle/>
          <a:p>
            <a:pPr indent="0" marL="0">
              <a:buNone/>
            </a:pPr>
            <a:r>
              <a:rPr lang="en-US" sz="1800" dirty="0">
                <a:solidFill>
                  <a:srgbClr val="6C6A64"/>
                </a:solidFill>
                <a:latin typeface="IBM Plex Mono" pitchFamily="34" charset="0"/>
                <a:ea typeface="IBM Plex Mono" pitchFamily="34" charset="-122"/>
                <a:cs typeface="IBM Plex Mono" pitchFamily="34" charset="-120"/>
              </a:rPr>
              <a:t>02</a:t>
            </a:r>
            <a:endParaRPr lang="en-US" sz="1800" dirty="0"/>
          </a:p>
        </p:txBody>
      </p:sp>
      <p:sp>
        <p:nvSpPr>
          <p:cNvPr id="15" name="Text 13"/>
          <p:cNvSpPr/>
          <p:nvPr/>
        </p:nvSpPr>
        <p:spPr>
          <a:xfrm>
            <a:off x="2822387" y="2834640"/>
            <a:ext cx="1999427" cy="274320"/>
          </a:xfrm>
          <a:prstGeom prst="rect">
            <a:avLst/>
          </a:prstGeom>
          <a:noFill/>
          <a:ln/>
        </p:spPr>
        <p:txBody>
          <a:bodyPr wrap="square" lIns="0" tIns="0" rIns="0" bIns="0" rtlCol="0" anchor="ctr"/>
          <a:lstStyle/>
          <a:p>
            <a:pPr indent="0" marL="0">
              <a:buNone/>
            </a:pPr>
            <a:r>
              <a:rPr lang="en-US" sz="1100" b="1" spc="300" kern="0" dirty="0">
                <a:solidFill>
                  <a:srgbClr val="0A0A0A"/>
                </a:solidFill>
                <a:latin typeface="IBM Plex Mono" pitchFamily="34" charset="0"/>
                <a:ea typeface="IBM Plex Mono" pitchFamily="34" charset="-122"/>
                <a:cs typeface="IBM Plex Mono" pitchFamily="34" charset="-120"/>
              </a:rPr>
              <a:t>MODEL BINDING</a:t>
            </a:r>
            <a:endParaRPr lang="en-US" sz="1100" dirty="0"/>
          </a:p>
        </p:txBody>
      </p:sp>
      <p:sp>
        <p:nvSpPr>
          <p:cNvPr id="16" name="Text 14"/>
          <p:cNvSpPr/>
          <p:nvPr/>
        </p:nvSpPr>
        <p:spPr>
          <a:xfrm>
            <a:off x="2822387" y="3200400"/>
            <a:ext cx="1953707" cy="822960"/>
          </a:xfrm>
          <a:prstGeom prst="rect">
            <a:avLst/>
          </a:prstGeom>
          <a:noFill/>
          <a:ln/>
        </p:spPr>
        <p:txBody>
          <a:bodyPr wrap="square" lIns="0" tIns="0" rIns="0" bIns="0" rtlCol="0" anchor="t"/>
          <a:lstStyle/>
          <a:p>
            <a:pPr indent="0" marL="0">
              <a:buNone/>
            </a:pPr>
            <a:r>
              <a:rPr lang="en-US" sz="1600" dirty="0">
                <a:solidFill>
                  <a:srgbClr val="0A0A0A"/>
                </a:solidFill>
                <a:latin typeface="Instrument Sans" pitchFamily="34" charset="0"/>
                <a:ea typeface="Instrument Sans" pitchFamily="34" charset="-122"/>
                <a:cs typeface="Instrument Sans" pitchFamily="34" charset="-120"/>
              </a:rPr>
              <a:t>Exact model build</a:t>
            </a:r>
            <a:endParaRPr lang="en-US" sz="1600" dirty="0"/>
          </a:p>
        </p:txBody>
      </p:sp>
      <p:sp>
        <p:nvSpPr>
          <p:cNvPr id="17" name="Shape 15"/>
          <p:cNvSpPr/>
          <p:nvPr/>
        </p:nvSpPr>
        <p:spPr>
          <a:xfrm>
            <a:off x="5004694" y="2103120"/>
            <a:ext cx="2045147" cy="0"/>
          </a:xfrm>
          <a:prstGeom prst="line">
            <a:avLst/>
          </a:prstGeom>
          <a:noFill/>
          <a:ln w="15875">
            <a:solidFill>
              <a:srgbClr val="0A0A0A"/>
            </a:solidFill>
            <a:prstDash val="solid"/>
          </a:ln>
        </p:spPr>
      </p:sp>
      <p:sp>
        <p:nvSpPr>
          <p:cNvPr id="18" name="Text 16"/>
          <p:cNvSpPr/>
          <p:nvPr/>
        </p:nvSpPr>
        <p:spPr>
          <a:xfrm>
            <a:off x="5004694" y="2240280"/>
            <a:ext cx="1999427" cy="457200"/>
          </a:xfrm>
          <a:prstGeom prst="rect">
            <a:avLst/>
          </a:prstGeom>
          <a:noFill/>
          <a:ln/>
        </p:spPr>
        <p:txBody>
          <a:bodyPr wrap="square" lIns="0" tIns="0" rIns="0" bIns="0" rtlCol="0" anchor="ctr"/>
          <a:lstStyle/>
          <a:p>
            <a:pPr indent="0" marL="0">
              <a:buNone/>
            </a:pPr>
            <a:r>
              <a:rPr lang="en-US" sz="1800" dirty="0">
                <a:solidFill>
                  <a:srgbClr val="6C6A64"/>
                </a:solidFill>
                <a:latin typeface="IBM Plex Mono" pitchFamily="34" charset="0"/>
                <a:ea typeface="IBM Plex Mono" pitchFamily="34" charset="-122"/>
                <a:cs typeface="IBM Plex Mono" pitchFamily="34" charset="-120"/>
              </a:rPr>
              <a:t>03</a:t>
            </a:r>
            <a:endParaRPr lang="en-US" sz="1800" dirty="0"/>
          </a:p>
        </p:txBody>
      </p:sp>
      <p:sp>
        <p:nvSpPr>
          <p:cNvPr id="19" name="Text 17"/>
          <p:cNvSpPr/>
          <p:nvPr/>
        </p:nvSpPr>
        <p:spPr>
          <a:xfrm>
            <a:off x="5004694" y="2834640"/>
            <a:ext cx="1999427" cy="274320"/>
          </a:xfrm>
          <a:prstGeom prst="rect">
            <a:avLst/>
          </a:prstGeom>
          <a:noFill/>
          <a:ln/>
        </p:spPr>
        <p:txBody>
          <a:bodyPr wrap="square" lIns="0" tIns="0" rIns="0" bIns="0" rtlCol="0" anchor="ctr"/>
          <a:lstStyle/>
          <a:p>
            <a:pPr indent="0" marL="0">
              <a:buNone/>
            </a:pPr>
            <a:r>
              <a:rPr lang="en-US" sz="1100" b="1" spc="300" kern="0" dirty="0">
                <a:solidFill>
                  <a:srgbClr val="0A0A0A"/>
                </a:solidFill>
                <a:latin typeface="IBM Plex Mono" pitchFamily="34" charset="0"/>
                <a:ea typeface="IBM Plex Mono" pitchFamily="34" charset="-122"/>
                <a:cs typeface="IBM Plex Mono" pitchFamily="34" charset="-120"/>
              </a:rPr>
              <a:t>SUITE BINDING</a:t>
            </a:r>
            <a:endParaRPr lang="en-US" sz="1100" dirty="0"/>
          </a:p>
        </p:txBody>
      </p:sp>
      <p:sp>
        <p:nvSpPr>
          <p:cNvPr id="20" name="Text 18"/>
          <p:cNvSpPr/>
          <p:nvPr/>
        </p:nvSpPr>
        <p:spPr>
          <a:xfrm>
            <a:off x="5004694" y="3200400"/>
            <a:ext cx="1953707" cy="822960"/>
          </a:xfrm>
          <a:prstGeom prst="rect">
            <a:avLst/>
          </a:prstGeom>
          <a:noFill/>
          <a:ln/>
        </p:spPr>
        <p:txBody>
          <a:bodyPr wrap="square" lIns="0" tIns="0" rIns="0" bIns="0" rtlCol="0" anchor="t"/>
          <a:lstStyle/>
          <a:p>
            <a:pPr indent="0" marL="0">
              <a:buNone/>
            </a:pPr>
            <a:r>
              <a:rPr lang="en-US" sz="1600" dirty="0">
                <a:solidFill>
                  <a:srgbClr val="0A0A0A"/>
                </a:solidFill>
                <a:latin typeface="Instrument Sans" pitchFamily="34" charset="0"/>
                <a:ea typeface="Instrument Sans" pitchFamily="34" charset="-122"/>
                <a:cs typeface="Instrument Sans" pitchFamily="34" charset="-120"/>
              </a:rPr>
              <a:t>Exact secret suite</a:t>
            </a:r>
            <a:endParaRPr lang="en-US" sz="1600" dirty="0"/>
          </a:p>
        </p:txBody>
      </p:sp>
      <p:sp>
        <p:nvSpPr>
          <p:cNvPr id="21" name="Shape 19"/>
          <p:cNvSpPr/>
          <p:nvPr/>
        </p:nvSpPr>
        <p:spPr>
          <a:xfrm>
            <a:off x="7187001" y="2103120"/>
            <a:ext cx="2045147" cy="0"/>
          </a:xfrm>
          <a:prstGeom prst="line">
            <a:avLst/>
          </a:prstGeom>
          <a:noFill/>
          <a:ln w="15875">
            <a:solidFill>
              <a:srgbClr val="0A0A0A"/>
            </a:solidFill>
            <a:prstDash val="solid"/>
          </a:ln>
        </p:spPr>
      </p:sp>
      <p:sp>
        <p:nvSpPr>
          <p:cNvPr id="22" name="Text 20"/>
          <p:cNvSpPr/>
          <p:nvPr/>
        </p:nvSpPr>
        <p:spPr>
          <a:xfrm>
            <a:off x="7187001" y="2240280"/>
            <a:ext cx="1999427" cy="457200"/>
          </a:xfrm>
          <a:prstGeom prst="rect">
            <a:avLst/>
          </a:prstGeom>
          <a:noFill/>
          <a:ln/>
        </p:spPr>
        <p:txBody>
          <a:bodyPr wrap="square" lIns="0" tIns="0" rIns="0" bIns="0" rtlCol="0" anchor="ctr"/>
          <a:lstStyle/>
          <a:p>
            <a:pPr indent="0" marL="0">
              <a:buNone/>
            </a:pPr>
            <a:r>
              <a:rPr lang="en-US" sz="1800" dirty="0">
                <a:solidFill>
                  <a:srgbClr val="6C6A64"/>
                </a:solidFill>
                <a:latin typeface="IBM Plex Mono" pitchFamily="34" charset="0"/>
                <a:ea typeface="IBM Plex Mono" pitchFamily="34" charset="-122"/>
                <a:cs typeface="IBM Plex Mono" pitchFamily="34" charset="-120"/>
              </a:rPr>
              <a:t>04</a:t>
            </a:r>
            <a:endParaRPr lang="en-US" sz="1800" dirty="0"/>
          </a:p>
        </p:txBody>
      </p:sp>
      <p:sp>
        <p:nvSpPr>
          <p:cNvPr id="23" name="Text 21"/>
          <p:cNvSpPr/>
          <p:nvPr/>
        </p:nvSpPr>
        <p:spPr>
          <a:xfrm>
            <a:off x="7187001" y="2834640"/>
            <a:ext cx="1999427" cy="274320"/>
          </a:xfrm>
          <a:prstGeom prst="rect">
            <a:avLst/>
          </a:prstGeom>
          <a:noFill/>
          <a:ln/>
        </p:spPr>
        <p:txBody>
          <a:bodyPr wrap="square" lIns="0" tIns="0" rIns="0" bIns="0" rtlCol="0" anchor="ctr"/>
          <a:lstStyle/>
          <a:p>
            <a:pPr indent="0" marL="0">
              <a:buNone/>
            </a:pPr>
            <a:r>
              <a:rPr lang="en-US" sz="1100" b="1" spc="300" kern="0" dirty="0">
                <a:solidFill>
                  <a:srgbClr val="0A0A0A"/>
                </a:solidFill>
                <a:latin typeface="IBM Plex Mono" pitchFamily="34" charset="0"/>
                <a:ea typeface="IBM Plex Mono" pitchFamily="34" charset="-122"/>
                <a:cs typeface="IBM Plex Mono" pitchFamily="34" charset="-120"/>
              </a:rPr>
              <a:t>RELEASE PREDICATE</a:t>
            </a:r>
            <a:endParaRPr lang="en-US" sz="1100" dirty="0"/>
          </a:p>
        </p:txBody>
      </p:sp>
      <p:sp>
        <p:nvSpPr>
          <p:cNvPr id="24" name="Text 22"/>
          <p:cNvSpPr/>
          <p:nvPr/>
        </p:nvSpPr>
        <p:spPr>
          <a:xfrm>
            <a:off x="7187001" y="3200400"/>
            <a:ext cx="1953707" cy="822960"/>
          </a:xfrm>
          <a:prstGeom prst="rect">
            <a:avLst/>
          </a:prstGeom>
          <a:noFill/>
          <a:ln/>
        </p:spPr>
        <p:txBody>
          <a:bodyPr wrap="square" lIns="0" tIns="0" rIns="0" bIns="0" rtlCol="0" anchor="t"/>
          <a:lstStyle/>
          <a:p>
            <a:pPr indent="0" marL="0">
              <a:buNone/>
            </a:pPr>
            <a:r>
              <a:rPr lang="en-US" sz="1600" dirty="0">
                <a:solidFill>
                  <a:srgbClr val="0A0A0A"/>
                </a:solidFill>
                <a:latin typeface="Instrument Sans" pitchFamily="34" charset="0"/>
                <a:ea typeface="Instrument Sans" pitchFamily="34" charset="-122"/>
                <a:cs typeface="Instrument Sans" pitchFamily="34" charset="-120"/>
              </a:rPr>
              <a:t>Meets threshold</a:t>
            </a:r>
            <a:endParaRPr lang="en-US" sz="1600" dirty="0"/>
          </a:p>
        </p:txBody>
      </p:sp>
      <p:sp>
        <p:nvSpPr>
          <p:cNvPr id="25" name="Shape 23"/>
          <p:cNvSpPr/>
          <p:nvPr/>
        </p:nvSpPr>
        <p:spPr>
          <a:xfrm>
            <a:off x="9369308" y="2103120"/>
            <a:ext cx="2045147" cy="0"/>
          </a:xfrm>
          <a:prstGeom prst="line">
            <a:avLst/>
          </a:prstGeom>
          <a:noFill/>
          <a:ln w="15875">
            <a:solidFill>
              <a:srgbClr val="0A0A0A"/>
            </a:solidFill>
            <a:prstDash val="solid"/>
          </a:ln>
        </p:spPr>
      </p:sp>
      <p:sp>
        <p:nvSpPr>
          <p:cNvPr id="26" name="Text 24"/>
          <p:cNvSpPr/>
          <p:nvPr/>
        </p:nvSpPr>
        <p:spPr>
          <a:xfrm>
            <a:off x="9369308" y="2240280"/>
            <a:ext cx="1999427" cy="457200"/>
          </a:xfrm>
          <a:prstGeom prst="rect">
            <a:avLst/>
          </a:prstGeom>
          <a:noFill/>
          <a:ln/>
        </p:spPr>
        <p:txBody>
          <a:bodyPr wrap="square" lIns="0" tIns="0" rIns="0" bIns="0" rtlCol="0" anchor="ctr"/>
          <a:lstStyle/>
          <a:p>
            <a:pPr indent="0" marL="0">
              <a:buNone/>
            </a:pPr>
            <a:r>
              <a:rPr lang="en-US" sz="1800" dirty="0">
                <a:solidFill>
                  <a:srgbClr val="6C6A64"/>
                </a:solidFill>
                <a:latin typeface="IBM Plex Mono" pitchFamily="34" charset="0"/>
                <a:ea typeface="IBM Plex Mono" pitchFamily="34" charset="-122"/>
                <a:cs typeface="IBM Plex Mono" pitchFamily="34" charset="-120"/>
              </a:rPr>
              <a:t>05</a:t>
            </a:r>
            <a:endParaRPr lang="en-US" sz="1800" dirty="0"/>
          </a:p>
        </p:txBody>
      </p:sp>
      <p:sp>
        <p:nvSpPr>
          <p:cNvPr id="27" name="Text 25"/>
          <p:cNvSpPr/>
          <p:nvPr/>
        </p:nvSpPr>
        <p:spPr>
          <a:xfrm>
            <a:off x="9369308" y="2834640"/>
            <a:ext cx="1999427" cy="274320"/>
          </a:xfrm>
          <a:prstGeom prst="rect">
            <a:avLst/>
          </a:prstGeom>
          <a:noFill/>
          <a:ln/>
        </p:spPr>
        <p:txBody>
          <a:bodyPr wrap="square" lIns="0" tIns="0" rIns="0" bIns="0" rtlCol="0" anchor="ctr"/>
          <a:lstStyle/>
          <a:p>
            <a:pPr indent="0" marL="0">
              <a:buNone/>
            </a:pPr>
            <a:r>
              <a:rPr lang="en-US" sz="1100" b="1" spc="300" kern="0" dirty="0">
                <a:solidFill>
                  <a:srgbClr val="0A0A0A"/>
                </a:solidFill>
                <a:latin typeface="IBM Plex Mono" pitchFamily="34" charset="0"/>
                <a:ea typeface="IBM Plex Mono" pitchFamily="34" charset="-122"/>
                <a:cs typeface="IBM Plex Mono" pitchFamily="34" charset="-120"/>
              </a:rPr>
              <a:t>RELEASE UNIQUENESS</a:t>
            </a:r>
            <a:endParaRPr lang="en-US" sz="1100" dirty="0"/>
          </a:p>
        </p:txBody>
      </p:sp>
      <p:sp>
        <p:nvSpPr>
          <p:cNvPr id="28" name="Text 26"/>
          <p:cNvSpPr/>
          <p:nvPr/>
        </p:nvSpPr>
        <p:spPr>
          <a:xfrm>
            <a:off x="9369308" y="3200400"/>
            <a:ext cx="1953707" cy="822960"/>
          </a:xfrm>
          <a:prstGeom prst="rect">
            <a:avLst/>
          </a:prstGeom>
          <a:noFill/>
          <a:ln/>
        </p:spPr>
        <p:txBody>
          <a:bodyPr wrap="square" lIns="0" tIns="0" rIns="0" bIns="0" rtlCol="0" anchor="t"/>
          <a:lstStyle/>
          <a:p>
            <a:pPr indent="0" marL="0">
              <a:buNone/>
            </a:pPr>
            <a:r>
              <a:rPr lang="en-US" sz="1600" dirty="0">
                <a:solidFill>
                  <a:srgbClr val="0A0A0A"/>
                </a:solidFill>
                <a:latin typeface="Instrument Sans" pitchFamily="34" charset="0"/>
                <a:ea typeface="Instrument Sans" pitchFamily="34" charset="-122"/>
                <a:cs typeface="Instrument Sans" pitchFamily="34" charset="-120"/>
              </a:rPr>
              <a:t>One per release</a:t>
            </a:r>
            <a:endParaRPr lang="en-US" sz="1600" dirty="0"/>
          </a:p>
        </p:txBody>
      </p:sp>
      <p:sp>
        <p:nvSpPr>
          <p:cNvPr id="29" name="Shape 27"/>
          <p:cNvSpPr/>
          <p:nvPr/>
        </p:nvSpPr>
        <p:spPr>
          <a:xfrm>
            <a:off x="640080" y="4480560"/>
            <a:ext cx="10911535" cy="1097280"/>
          </a:xfrm>
          <a:prstGeom prst="rect">
            <a:avLst/>
          </a:prstGeom>
          <a:solidFill>
            <a:srgbClr val="0A0A0A"/>
          </a:solidFill>
          <a:ln w="12700">
            <a:solidFill>
              <a:srgbClr val="0A0A0A"/>
            </a:solidFill>
            <a:prstDash val="solid"/>
          </a:ln>
        </p:spPr>
      </p:sp>
      <p:sp>
        <p:nvSpPr>
          <p:cNvPr id="30" name="Text 28"/>
          <p:cNvSpPr/>
          <p:nvPr/>
        </p:nvSpPr>
        <p:spPr>
          <a:xfrm>
            <a:off x="1005840" y="4480560"/>
            <a:ext cx="10180015" cy="1097280"/>
          </a:xfrm>
          <a:prstGeom prst="rect">
            <a:avLst/>
          </a:prstGeom>
          <a:noFill/>
          <a:ln/>
        </p:spPr>
        <p:txBody>
          <a:bodyPr wrap="square" lIns="0" tIns="0" rIns="0" bIns="0" rtlCol="0" anchor="ctr"/>
          <a:lstStyle/>
          <a:p>
            <a:pPr indent="0" marL="0">
              <a:buNone/>
            </a:pPr>
            <a:r>
              <a:rPr lang="en-US" sz="1700" dirty="0">
                <a:solidFill>
                  <a:srgbClr val="A8A59D"/>
                </a:solidFill>
                <a:latin typeface="IBM Plex Mono" pitchFamily="34" charset="0"/>
                <a:ea typeface="IBM Plex Mono" pitchFamily="34" charset="-122"/>
                <a:cs typeface="IBM Plex Mono" pitchFamily="34" charset="-120"/>
              </a:rPr>
              <a:t>private witness</a:t>
            </a:r>
            <a:pPr indent="0" marL="0">
              <a:buNone/>
            </a:pPr>
            <a:r>
              <a:rPr lang="en-US" sz="1700" dirty="0">
                <a:solidFill>
                  <a:srgbClr val="F1EEE6"/>
                </a:solidFill>
                <a:latin typeface="IBM Plex Mono" pitchFamily="34" charset="0"/>
                <a:ea typeface="IBM Plex Mono" pitchFamily="34" charset="-122"/>
                <a:cs typeface="IBM Plex Mono" pitchFamily="34" charset="-120"/>
              </a:rPr>
              <a:t>   →   </a:t>
            </a:r>
            <a:pPr indent="0" marL="0">
              <a:buNone/>
            </a:pPr>
            <a:r>
              <a:rPr lang="en-US" sz="1700" dirty="0">
                <a:solidFill>
                  <a:srgbClr val="F1EEE6"/>
                </a:solidFill>
                <a:latin typeface="IBM Plex Mono" pitchFamily="34" charset="0"/>
                <a:ea typeface="IBM Plex Mono" pitchFamily="34" charset="-122"/>
                <a:cs typeface="IBM Plex Mono" pitchFamily="34" charset="-120"/>
              </a:rPr>
              <a:t>five assertions</a:t>
            </a:r>
            <a:pPr indent="0" marL="0">
              <a:buNone/>
            </a:pPr>
            <a:r>
              <a:rPr lang="en-US" sz="1700" dirty="0">
                <a:solidFill>
                  <a:srgbClr val="F1EEE6"/>
                </a:solidFill>
                <a:latin typeface="IBM Plex Mono" pitchFamily="34" charset="0"/>
                <a:ea typeface="IBM Plex Mono" pitchFamily="34" charset="-122"/>
                <a:cs typeface="IBM Plex Mono" pitchFamily="34" charset="-120"/>
              </a:rPr>
              <a:t>   →   </a:t>
            </a:r>
            <a:pPr indent="0" marL="0">
              <a:buNone/>
            </a:pPr>
            <a:r>
              <a:rPr lang="en-US" sz="1700" dirty="0">
                <a:solidFill>
                  <a:srgbClr val="E95136"/>
                </a:solidFill>
                <a:latin typeface="IBM Plex Mono" pitchFamily="34" charset="0"/>
                <a:ea typeface="IBM Plex Mono" pitchFamily="34" charset="-122"/>
                <a:cs typeface="IBM Plex Mono" pitchFamily="34" charset="-120"/>
              </a:rPr>
              <a:t>disclose( commitments only )</a:t>
            </a:r>
            <a:endParaRPr lang="en-US" sz="1700" dirty="0"/>
          </a:p>
        </p:txBody>
      </p:sp>
      <p:sp>
        <p:nvSpPr>
          <p:cNvPr id="31" name="Text 29"/>
          <p:cNvSpPr/>
          <p:nvPr/>
        </p:nvSpPr>
        <p:spPr>
          <a:xfrm>
            <a:off x="640080" y="5852160"/>
            <a:ext cx="10911535" cy="365760"/>
          </a:xfrm>
          <a:prstGeom prst="rect">
            <a:avLst/>
          </a:prstGeom>
          <a:noFill/>
          <a:ln/>
        </p:spPr>
        <p:txBody>
          <a:bodyPr wrap="square" lIns="0" tIns="0" rIns="0" bIns="0" rtlCol="0" anchor="ctr"/>
          <a:lstStyle/>
          <a:p>
            <a:pPr indent="0" marL="0">
              <a:buNone/>
            </a:pPr>
            <a:r>
              <a:rPr lang="en-US" sz="1600" dirty="0">
                <a:solidFill>
                  <a:srgbClr val="6C6A64"/>
                </a:solidFill>
                <a:latin typeface="Instrument Sans" pitchFamily="34" charset="0"/>
                <a:ea typeface="Instrument Sans" pitchFamily="34" charset="-122"/>
                <a:cs typeface="Instrument Sans" pitchFamily="34" charset="-120"/>
              </a:rPr>
              <a:t>Any assertion fails → no proof → no transaction → no record.</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658368" y="466344"/>
            <a:ext cx="91440" cy="182880"/>
          </a:xfrm>
          <a:prstGeom prst="rect">
            <a:avLst/>
          </a:prstGeom>
          <a:solidFill>
            <a:srgbClr val="F1EEE6"/>
          </a:solidFill>
          <a:ln w="12700">
            <a:solidFill>
              <a:srgbClr val="F1EEE6"/>
            </a:solidFill>
            <a:prstDash val="solid"/>
          </a:ln>
        </p:spPr>
      </p:sp>
      <p:sp>
        <p:nvSpPr>
          <p:cNvPr id="3" name="Shape 1"/>
          <p:cNvSpPr/>
          <p:nvPr/>
        </p:nvSpPr>
        <p:spPr>
          <a:xfrm>
            <a:off x="768096" y="429768"/>
            <a:ext cx="36576" cy="256032"/>
          </a:xfrm>
          <a:prstGeom prst="rect">
            <a:avLst/>
          </a:prstGeom>
          <a:solidFill>
            <a:srgbClr val="F1EEE6"/>
          </a:solidFill>
          <a:ln w="12700">
            <a:solidFill>
              <a:srgbClr val="F1EEE6"/>
            </a:solidFill>
            <a:prstDash val="solid"/>
          </a:ln>
        </p:spPr>
      </p:sp>
      <p:sp>
        <p:nvSpPr>
          <p:cNvPr id="4" name="Shape 2"/>
          <p:cNvSpPr/>
          <p:nvPr/>
        </p:nvSpPr>
        <p:spPr>
          <a:xfrm>
            <a:off x="832104" y="475488"/>
            <a:ext cx="73152" cy="164592"/>
          </a:xfrm>
          <a:prstGeom prst="rect">
            <a:avLst/>
          </a:prstGeom>
          <a:ln w="18288">
            <a:solidFill>
              <a:srgbClr val="F1EEE6"/>
            </a:solidFill>
            <a:prstDash val="solid"/>
          </a:ln>
        </p:spPr>
      </p:sp>
      <p:sp>
        <p:nvSpPr>
          <p:cNvPr id="5" name="Text 3"/>
          <p:cNvSpPr/>
          <p:nvPr/>
        </p:nvSpPr>
        <p:spPr>
          <a:xfrm>
            <a:off x="1051560" y="429768"/>
            <a:ext cx="2743200" cy="274320"/>
          </a:xfrm>
          <a:prstGeom prst="rect">
            <a:avLst/>
          </a:prstGeom>
          <a:noFill/>
          <a:ln/>
        </p:spPr>
        <p:txBody>
          <a:bodyPr wrap="square" lIns="0" tIns="0" rIns="0" bIns="0" rtlCol="0" anchor="ctr"/>
          <a:lstStyle/>
          <a:p>
            <a:pPr indent="0" marL="0">
              <a:buNone/>
            </a:pPr>
            <a:r>
              <a:rPr lang="en-US" sz="1100" b="1" spc="300" kern="0" dirty="0">
                <a:solidFill>
                  <a:srgbClr val="F1EEE6"/>
                </a:solidFill>
                <a:latin typeface="IBM Plex Mono" pitchFamily="34" charset="0"/>
                <a:ea typeface="IBM Plex Mono" pitchFamily="34" charset="-122"/>
                <a:cs typeface="IBM Plex Mono" pitchFamily="34" charset="-120"/>
              </a:rPr>
              <a:t>CLOSED BOOK</a:t>
            </a:r>
            <a:endParaRPr lang="en-US" sz="1100" dirty="0"/>
          </a:p>
        </p:txBody>
      </p:sp>
      <p:sp>
        <p:nvSpPr>
          <p:cNvPr id="6" name="Text 4"/>
          <p:cNvSpPr/>
          <p:nvPr/>
        </p:nvSpPr>
        <p:spPr>
          <a:xfrm>
            <a:off x="7894015" y="429768"/>
            <a:ext cx="3657600" cy="274320"/>
          </a:xfrm>
          <a:prstGeom prst="rect">
            <a:avLst/>
          </a:prstGeom>
          <a:noFill/>
          <a:ln/>
        </p:spPr>
        <p:txBody>
          <a:bodyPr wrap="square" lIns="0" tIns="0" rIns="0" bIns="0" rtlCol="0" anchor="ctr"/>
          <a:lstStyle/>
          <a:p>
            <a:pPr algn="r" indent="0" marL="0">
              <a:buNone/>
            </a:pPr>
            <a:r>
              <a:rPr lang="en-US" sz="1100" spc="300" kern="0" dirty="0">
                <a:solidFill>
                  <a:srgbClr val="A8A59D"/>
                </a:solidFill>
                <a:latin typeface="IBM Plex Mono" pitchFamily="34" charset="0"/>
                <a:ea typeface="IBM Plex Mono" pitchFamily="34" charset="-122"/>
                <a:cs typeface="IBM Plex Mono" pitchFamily="34" charset="-120"/>
              </a:rPr>
              <a:t>05 · EVIDENCE</a:t>
            </a:r>
            <a:endParaRPr lang="en-US" sz="1100" dirty="0"/>
          </a:p>
        </p:txBody>
      </p:sp>
      <p:sp>
        <p:nvSpPr>
          <p:cNvPr id="7" name="Shape 5"/>
          <p:cNvSpPr/>
          <p:nvPr/>
        </p:nvSpPr>
        <p:spPr>
          <a:xfrm>
            <a:off x="640080" y="868680"/>
            <a:ext cx="10911535" cy="0"/>
          </a:xfrm>
          <a:prstGeom prst="line">
            <a:avLst/>
          </a:prstGeom>
          <a:noFill/>
          <a:ln w="9525">
            <a:solidFill>
              <a:srgbClr val="F1EEE6"/>
            </a:solidFill>
            <a:prstDash val="solid"/>
          </a:ln>
        </p:spPr>
      </p:sp>
      <p:sp>
        <p:nvSpPr>
          <p:cNvPr id="8" name="Text 6"/>
          <p:cNvSpPr/>
          <p:nvPr/>
        </p:nvSpPr>
        <p:spPr>
          <a:xfrm>
            <a:off x="640080" y="1051560"/>
            <a:ext cx="10911535" cy="914400"/>
          </a:xfrm>
          <a:prstGeom prst="rect">
            <a:avLst/>
          </a:prstGeom>
          <a:noFill/>
          <a:ln/>
        </p:spPr>
        <p:txBody>
          <a:bodyPr wrap="square" lIns="0" tIns="0" rIns="0" bIns="0" rtlCol="0" anchor="t"/>
          <a:lstStyle/>
          <a:p>
            <a:pPr indent="0" marL="0">
              <a:buNone/>
            </a:pPr>
            <a:r>
              <a:rPr lang="en-US" sz="3600" dirty="0">
                <a:solidFill>
                  <a:srgbClr val="F1EEE6"/>
                </a:solidFill>
                <a:latin typeface="Instrument Serif" pitchFamily="34" charset="0"/>
                <a:ea typeface="Instrument Serif" pitchFamily="34" charset="-122"/>
                <a:cs typeface="Instrument Serif" pitchFamily="34" charset="-120"/>
              </a:rPr>
              <a:t>Real zero-knowledge evidence.</a:t>
            </a:r>
            <a:endParaRPr lang="en-US" sz="3600" dirty="0"/>
          </a:p>
        </p:txBody>
      </p:sp>
      <p:sp>
        <p:nvSpPr>
          <p:cNvPr id="9" name="Text 7"/>
          <p:cNvSpPr/>
          <p:nvPr/>
        </p:nvSpPr>
        <p:spPr>
          <a:xfrm>
            <a:off x="640080" y="2148840"/>
            <a:ext cx="2011680" cy="731520"/>
          </a:xfrm>
          <a:prstGeom prst="rect">
            <a:avLst/>
          </a:prstGeom>
          <a:noFill/>
          <a:ln/>
        </p:spPr>
        <p:txBody>
          <a:bodyPr wrap="square" lIns="0" tIns="0" rIns="0" bIns="0" rtlCol="0" anchor="ctr"/>
          <a:lstStyle/>
          <a:p>
            <a:pPr indent="0" marL="0">
              <a:buNone/>
            </a:pPr>
            <a:r>
              <a:rPr lang="en-US" sz="4000" dirty="0">
                <a:solidFill>
                  <a:srgbClr val="F1EEE6"/>
                </a:solidFill>
                <a:latin typeface="IBM Plex Mono" pitchFamily="34" charset="0"/>
                <a:ea typeface="IBM Plex Mono" pitchFamily="34" charset="-122"/>
                <a:cs typeface="IBM Plex Mono" pitchFamily="34" charset="-120"/>
              </a:rPr>
              <a:t>6 / 6</a:t>
            </a:r>
            <a:endParaRPr lang="en-US" sz="4000" dirty="0"/>
          </a:p>
        </p:txBody>
      </p:sp>
      <p:sp>
        <p:nvSpPr>
          <p:cNvPr id="10" name="Text 8"/>
          <p:cNvSpPr/>
          <p:nvPr/>
        </p:nvSpPr>
        <p:spPr>
          <a:xfrm>
            <a:off x="2743200" y="2148840"/>
            <a:ext cx="3108960" cy="731520"/>
          </a:xfrm>
          <a:prstGeom prst="rect">
            <a:avLst/>
          </a:prstGeom>
          <a:noFill/>
          <a:ln/>
        </p:spPr>
        <p:txBody>
          <a:bodyPr wrap="square" lIns="0" tIns="0" rIns="0" bIns="0" rtlCol="0" anchor="ctr"/>
          <a:lstStyle/>
          <a:p>
            <a:pPr indent="0" marL="0">
              <a:buNone/>
            </a:pPr>
            <a:r>
              <a:rPr lang="en-US" sz="4000" b="1" dirty="0">
                <a:solidFill>
                  <a:srgbClr val="F1EEE6"/>
                </a:solidFill>
                <a:latin typeface="IBM Plex Mono" pitchFamily="34" charset="0"/>
                <a:ea typeface="IBM Plex Mono" pitchFamily="34" charset="-122"/>
                <a:cs typeface="IBM Plex Mono" pitchFamily="34" charset="-120"/>
              </a:rPr>
              <a:t>PROVEN</a:t>
            </a:r>
            <a:endParaRPr lang="en-US" sz="4000" dirty="0"/>
          </a:p>
        </p:txBody>
      </p:sp>
      <p:sp>
        <p:nvSpPr>
          <p:cNvPr id="11" name="Text 9"/>
          <p:cNvSpPr/>
          <p:nvPr/>
        </p:nvSpPr>
        <p:spPr>
          <a:xfrm>
            <a:off x="6126480" y="2240280"/>
            <a:ext cx="5394960" cy="640080"/>
          </a:xfrm>
          <a:prstGeom prst="rect">
            <a:avLst/>
          </a:prstGeom>
          <a:noFill/>
          <a:ln/>
        </p:spPr>
        <p:txBody>
          <a:bodyPr wrap="square" lIns="0" tIns="0" rIns="0" bIns="0" rtlCol="0" anchor="ctr"/>
          <a:lstStyle/>
          <a:p>
            <a:pPr indent="0" marL="0">
              <a:buNone/>
            </a:pPr>
            <a:r>
              <a:rPr lang="en-US" sz="1700" dirty="0">
                <a:solidFill>
                  <a:srgbClr val="A8A59D"/>
                </a:solidFill>
                <a:latin typeface="Instrument Sans" pitchFamily="34" charset="0"/>
                <a:ea typeface="Instrument Sans" pitchFamily="34" charset="-122"/>
                <a:cs typeface="Instrument Sans" pitchFamily="34" charset="-120"/>
              </a:rPr>
              <a:t>Real PLONK proof from the compiled attest circuit</a:t>
            </a:r>
            <a:endParaRPr lang="en-US" sz="1700" dirty="0"/>
          </a:p>
        </p:txBody>
      </p:sp>
      <p:sp>
        <p:nvSpPr>
          <p:cNvPr id="12" name="Text 10"/>
          <p:cNvSpPr/>
          <p:nvPr/>
        </p:nvSpPr>
        <p:spPr>
          <a:xfrm>
            <a:off x="640080" y="3337560"/>
            <a:ext cx="2011680" cy="731520"/>
          </a:xfrm>
          <a:prstGeom prst="rect">
            <a:avLst/>
          </a:prstGeom>
          <a:noFill/>
          <a:ln/>
        </p:spPr>
        <p:txBody>
          <a:bodyPr wrap="square" lIns="0" tIns="0" rIns="0" bIns="0" rtlCol="0" anchor="ctr"/>
          <a:lstStyle/>
          <a:p>
            <a:pPr indent="0" marL="0">
              <a:buNone/>
            </a:pPr>
            <a:r>
              <a:rPr lang="en-US" sz="4000" dirty="0">
                <a:solidFill>
                  <a:srgbClr val="F1EEE6"/>
                </a:solidFill>
                <a:latin typeface="IBM Plex Mono" pitchFamily="34" charset="0"/>
                <a:ea typeface="IBM Plex Mono" pitchFamily="34" charset="-122"/>
                <a:cs typeface="IBM Plex Mono" pitchFamily="34" charset="-120"/>
              </a:rPr>
              <a:t>5 / 6</a:t>
            </a:r>
            <a:endParaRPr lang="en-US" sz="4000" dirty="0"/>
          </a:p>
        </p:txBody>
      </p:sp>
      <p:sp>
        <p:nvSpPr>
          <p:cNvPr id="13" name="Text 11"/>
          <p:cNvSpPr/>
          <p:nvPr/>
        </p:nvSpPr>
        <p:spPr>
          <a:xfrm>
            <a:off x="2743200" y="3337560"/>
            <a:ext cx="3108960" cy="731520"/>
          </a:xfrm>
          <a:prstGeom prst="rect">
            <a:avLst/>
          </a:prstGeom>
          <a:noFill/>
          <a:ln/>
        </p:spPr>
        <p:txBody>
          <a:bodyPr wrap="square" lIns="0" tIns="0" rIns="0" bIns="0" rtlCol="0" anchor="ctr"/>
          <a:lstStyle/>
          <a:p>
            <a:pPr indent="0" marL="0">
              <a:buNone/>
            </a:pPr>
            <a:r>
              <a:rPr lang="en-US" sz="4000" b="1" dirty="0">
                <a:solidFill>
                  <a:srgbClr val="E95136"/>
                </a:solidFill>
                <a:latin typeface="IBM Plex Mono" pitchFamily="34" charset="0"/>
                <a:ea typeface="IBM Plex Mono" pitchFamily="34" charset="-122"/>
                <a:cs typeface="IBM Plex Mono" pitchFamily="34" charset="-120"/>
              </a:rPr>
              <a:t>REJECTED</a:t>
            </a:r>
            <a:endParaRPr lang="en-US" sz="4000" dirty="0"/>
          </a:p>
        </p:txBody>
      </p:sp>
      <p:sp>
        <p:nvSpPr>
          <p:cNvPr id="14" name="Text 12"/>
          <p:cNvSpPr/>
          <p:nvPr/>
        </p:nvSpPr>
        <p:spPr>
          <a:xfrm>
            <a:off x="6126480" y="3429000"/>
            <a:ext cx="5394960" cy="640080"/>
          </a:xfrm>
          <a:prstGeom prst="rect">
            <a:avLst/>
          </a:prstGeom>
          <a:noFill/>
          <a:ln/>
        </p:spPr>
        <p:txBody>
          <a:bodyPr wrap="square" lIns="0" tIns="0" rIns="0" bIns="0" rtlCol="0" anchor="ctr"/>
          <a:lstStyle/>
          <a:p>
            <a:pPr indent="0" marL="0">
              <a:buNone/>
            </a:pPr>
            <a:r>
              <a:rPr lang="en-US" sz="1700" dirty="0">
                <a:solidFill>
                  <a:srgbClr val="A8A59D"/>
                </a:solidFill>
                <a:latin typeface="Instrument Sans" pitchFamily="34" charset="0"/>
                <a:ea typeface="Instrument Sans" pitchFamily="34" charset="-122"/>
                <a:cs typeface="Instrument Sans" pitchFamily="34" charset="-120"/>
              </a:rPr>
              <a:t>Constraint layer: Failed direct assertion</a:t>
            </a:r>
            <a:endParaRPr lang="en-US" sz="1700" dirty="0"/>
          </a:p>
          <a:p>
            <a:pPr indent="0" marL="0">
              <a:buNone/>
            </a:pPr>
            <a:r>
              <a:rPr lang="en-US" sz="1700" dirty="0">
                <a:solidFill>
                  <a:srgbClr val="A8A59D"/>
                </a:solidFill>
                <a:latin typeface="Instrument Sans" pitchFamily="34" charset="0"/>
                <a:ea typeface="Instrument Sans" pitchFamily="34" charset="-122"/>
                <a:cs typeface="Instrument Sans" pitchFamily="34" charset="-120"/>
              </a:rPr>
              <a:t>Proof server: HTTP 400. No proof.</a:t>
            </a:r>
            <a:endParaRPr lang="en-US" sz="1700" dirty="0"/>
          </a:p>
        </p:txBody>
      </p:sp>
      <p:sp>
        <p:nvSpPr>
          <p:cNvPr id="15" name="Text 13"/>
          <p:cNvSpPr/>
          <p:nvPr/>
        </p:nvSpPr>
        <p:spPr>
          <a:xfrm>
            <a:off x="640080" y="4617720"/>
            <a:ext cx="2103120" cy="292608"/>
          </a:xfrm>
          <a:prstGeom prst="rect">
            <a:avLst/>
          </a:prstGeom>
          <a:noFill/>
          <a:ln/>
        </p:spPr>
        <p:txBody>
          <a:bodyPr wrap="square" lIns="0" tIns="0" rIns="0" bIns="0" rtlCol="0" anchor="ctr"/>
          <a:lstStyle/>
          <a:p>
            <a:pPr indent="0" marL="0">
              <a:buNone/>
            </a:pPr>
            <a:r>
              <a:rPr lang="en-US" sz="1100" spc="300" kern="0" dirty="0">
                <a:solidFill>
                  <a:srgbClr val="A8A59D"/>
                </a:solidFill>
                <a:latin typeface="IBM Plex Mono" pitchFamily="34" charset="0"/>
                <a:ea typeface="IBM Plex Mono" pitchFamily="34" charset="-122"/>
                <a:cs typeface="IBM Plex Mono" pitchFamily="34" charset="-120"/>
              </a:rPr>
              <a:t>TOOLCHAIN</a:t>
            </a:r>
            <a:endParaRPr lang="en-US" sz="1100" dirty="0"/>
          </a:p>
        </p:txBody>
      </p:sp>
      <p:sp>
        <p:nvSpPr>
          <p:cNvPr id="16" name="Text 14"/>
          <p:cNvSpPr/>
          <p:nvPr/>
        </p:nvSpPr>
        <p:spPr>
          <a:xfrm>
            <a:off x="2743200" y="4617720"/>
            <a:ext cx="5943600" cy="292608"/>
          </a:xfrm>
          <a:prstGeom prst="rect">
            <a:avLst/>
          </a:prstGeom>
          <a:noFill/>
          <a:ln/>
        </p:spPr>
        <p:txBody>
          <a:bodyPr wrap="square" lIns="0" tIns="0" rIns="0" bIns="0" rtlCol="0" anchor="ctr"/>
          <a:lstStyle/>
          <a:p>
            <a:pPr indent="0" marL="0">
              <a:buNone/>
            </a:pPr>
            <a:r>
              <a:rPr lang="en-US" sz="1400" dirty="0">
                <a:solidFill>
                  <a:srgbClr val="F1EEE6"/>
                </a:solidFill>
                <a:latin typeface="IBM Plex Mono" pitchFamily="34" charset="0"/>
                <a:ea typeface="IBM Plex Mono" pitchFamily="34" charset="-122"/>
                <a:cs typeface="IBM Plex Mono" pitchFamily="34" charset="-120"/>
              </a:rPr>
              <a:t>Compact 0.31.1 · compact-runtime 0.16.0</a:t>
            </a:r>
            <a:endParaRPr lang="en-US" sz="1400" dirty="0"/>
          </a:p>
        </p:txBody>
      </p:sp>
      <p:sp>
        <p:nvSpPr>
          <p:cNvPr id="17" name="Text 15"/>
          <p:cNvSpPr/>
          <p:nvPr/>
        </p:nvSpPr>
        <p:spPr>
          <a:xfrm>
            <a:off x="640080" y="4946904"/>
            <a:ext cx="2103120" cy="292608"/>
          </a:xfrm>
          <a:prstGeom prst="rect">
            <a:avLst/>
          </a:prstGeom>
          <a:noFill/>
          <a:ln/>
        </p:spPr>
        <p:txBody>
          <a:bodyPr wrap="square" lIns="0" tIns="0" rIns="0" bIns="0" rtlCol="0" anchor="ctr"/>
          <a:lstStyle/>
          <a:p>
            <a:pPr indent="0" marL="0">
              <a:buNone/>
            </a:pPr>
            <a:r>
              <a:rPr lang="en-US" sz="1100" spc="300" kern="0" dirty="0">
                <a:solidFill>
                  <a:srgbClr val="A8A59D"/>
                </a:solidFill>
                <a:latin typeface="IBM Plex Mono" pitchFamily="34" charset="0"/>
                <a:ea typeface="IBM Plex Mono" pitchFamily="34" charset="-122"/>
                <a:cs typeface="IBM Plex Mono" pitchFamily="34" charset="-120"/>
              </a:rPr>
              <a:t>PROVERS</a:t>
            </a:r>
            <a:endParaRPr lang="en-US" sz="1100" dirty="0"/>
          </a:p>
        </p:txBody>
      </p:sp>
      <p:sp>
        <p:nvSpPr>
          <p:cNvPr id="18" name="Text 16"/>
          <p:cNvSpPr/>
          <p:nvPr/>
        </p:nvSpPr>
        <p:spPr>
          <a:xfrm>
            <a:off x="2743200" y="4946904"/>
            <a:ext cx="5943600" cy="292608"/>
          </a:xfrm>
          <a:prstGeom prst="rect">
            <a:avLst/>
          </a:prstGeom>
          <a:noFill/>
          <a:ln/>
        </p:spPr>
        <p:txBody>
          <a:bodyPr wrap="square" lIns="0" tIns="0" rIns="0" bIns="0" rtlCol="0" anchor="ctr"/>
          <a:lstStyle/>
          <a:p>
            <a:pPr indent="0" marL="0">
              <a:buNone/>
            </a:pPr>
            <a:r>
              <a:rPr lang="en-US" sz="1400" dirty="0">
                <a:solidFill>
                  <a:srgbClr val="F1EEE6"/>
                </a:solidFill>
                <a:latin typeface="IBM Plex Mono" pitchFamily="34" charset="0"/>
                <a:ea typeface="IBM Plex Mono" pitchFamily="34" charset="-122"/>
                <a:cs typeface="IBM Plex Mono" pitchFamily="34" charset="-120"/>
              </a:rPr>
              <a:t>official proof server 8.1.0 · official WASM prover</a:t>
            </a:r>
            <a:endParaRPr lang="en-US" sz="1400" dirty="0"/>
          </a:p>
        </p:txBody>
      </p:sp>
      <p:sp>
        <p:nvSpPr>
          <p:cNvPr id="19" name="Text 17"/>
          <p:cNvSpPr/>
          <p:nvPr/>
        </p:nvSpPr>
        <p:spPr>
          <a:xfrm>
            <a:off x="640080" y="5276088"/>
            <a:ext cx="2103120" cy="292608"/>
          </a:xfrm>
          <a:prstGeom prst="rect">
            <a:avLst/>
          </a:prstGeom>
          <a:noFill/>
          <a:ln/>
        </p:spPr>
        <p:txBody>
          <a:bodyPr wrap="square" lIns="0" tIns="0" rIns="0" bIns="0" rtlCol="0" anchor="ctr"/>
          <a:lstStyle/>
          <a:p>
            <a:pPr indent="0" marL="0">
              <a:buNone/>
            </a:pPr>
            <a:r>
              <a:rPr lang="en-US" sz="1100" spc="300" kern="0" dirty="0">
                <a:solidFill>
                  <a:srgbClr val="A8A59D"/>
                </a:solidFill>
                <a:latin typeface="IBM Plex Mono" pitchFamily="34" charset="0"/>
                <a:ea typeface="IBM Plex Mono" pitchFamily="34" charset="-122"/>
                <a:cs typeface="IBM Plex Mono" pitchFamily="34" charset="-120"/>
              </a:rPr>
              <a:t>PROVING KEY</a:t>
            </a:r>
            <a:endParaRPr lang="en-US" sz="1100" dirty="0"/>
          </a:p>
        </p:txBody>
      </p:sp>
      <p:sp>
        <p:nvSpPr>
          <p:cNvPr id="20" name="Text 18"/>
          <p:cNvSpPr/>
          <p:nvPr/>
        </p:nvSpPr>
        <p:spPr>
          <a:xfrm>
            <a:off x="2743200" y="5276088"/>
            <a:ext cx="5943600" cy="292608"/>
          </a:xfrm>
          <a:prstGeom prst="rect">
            <a:avLst/>
          </a:prstGeom>
          <a:noFill/>
          <a:ln/>
        </p:spPr>
        <p:txBody>
          <a:bodyPr wrap="square" lIns="0" tIns="0" rIns="0" bIns="0" rtlCol="0" anchor="ctr"/>
          <a:lstStyle/>
          <a:p>
            <a:pPr indent="0" marL="0">
              <a:buNone/>
            </a:pPr>
            <a:r>
              <a:rPr lang="en-US" sz="1400" dirty="0">
                <a:solidFill>
                  <a:srgbClr val="F1EEE6"/>
                </a:solidFill>
                <a:latin typeface="IBM Plex Mono" pitchFamily="34" charset="0"/>
                <a:ea typeface="IBM Plex Mono" pitchFamily="34" charset="-122"/>
                <a:cs typeface="IBM Plex Mono" pitchFamily="34" charset="-120"/>
              </a:rPr>
              <a:t>~19.5 MB (19,485,981 bytes)</a:t>
            </a:r>
            <a:endParaRPr lang="en-US" sz="1400" dirty="0"/>
          </a:p>
        </p:txBody>
      </p:sp>
      <p:sp>
        <p:nvSpPr>
          <p:cNvPr id="21" name="Text 19"/>
          <p:cNvSpPr/>
          <p:nvPr/>
        </p:nvSpPr>
        <p:spPr>
          <a:xfrm>
            <a:off x="640080" y="5605272"/>
            <a:ext cx="2103120" cy="292608"/>
          </a:xfrm>
          <a:prstGeom prst="rect">
            <a:avLst/>
          </a:prstGeom>
          <a:noFill/>
          <a:ln/>
        </p:spPr>
        <p:txBody>
          <a:bodyPr wrap="square" lIns="0" tIns="0" rIns="0" bIns="0" rtlCol="0" anchor="ctr"/>
          <a:lstStyle/>
          <a:p>
            <a:pPr indent="0" marL="0">
              <a:buNone/>
            </a:pPr>
            <a:r>
              <a:rPr lang="en-US" sz="1100" spc="300" kern="0" dirty="0">
                <a:solidFill>
                  <a:srgbClr val="A8A59D"/>
                </a:solidFill>
                <a:latin typeface="IBM Plex Mono" pitchFamily="34" charset="0"/>
                <a:ea typeface="IBM Plex Mono" pitchFamily="34" charset="-122"/>
                <a:cs typeface="IBM Plex Mono" pitchFamily="34" charset="-120"/>
              </a:rPr>
              <a:t>VERIFIER KEY</a:t>
            </a:r>
            <a:endParaRPr lang="en-US" sz="1100" dirty="0"/>
          </a:p>
        </p:txBody>
      </p:sp>
      <p:sp>
        <p:nvSpPr>
          <p:cNvPr id="22" name="Text 20"/>
          <p:cNvSpPr/>
          <p:nvPr/>
        </p:nvSpPr>
        <p:spPr>
          <a:xfrm>
            <a:off x="2743200" y="5605272"/>
            <a:ext cx="5943600" cy="292608"/>
          </a:xfrm>
          <a:prstGeom prst="rect">
            <a:avLst/>
          </a:prstGeom>
          <a:noFill/>
          <a:ln/>
        </p:spPr>
        <p:txBody>
          <a:bodyPr wrap="square" lIns="0" tIns="0" rIns="0" bIns="0" rtlCol="0" anchor="ctr"/>
          <a:lstStyle/>
          <a:p>
            <a:pPr indent="0" marL="0">
              <a:buNone/>
            </a:pPr>
            <a:r>
              <a:rPr lang="en-US" sz="1400" dirty="0">
                <a:solidFill>
                  <a:srgbClr val="F1EEE6"/>
                </a:solidFill>
                <a:latin typeface="IBM Plex Mono" pitchFamily="34" charset="0"/>
                <a:ea typeface="IBM Plex Mono" pitchFamily="34" charset="-122"/>
                <a:cs typeface="IBM Plex Mono" pitchFamily="34" charset="-120"/>
              </a:rPr>
              <a:t>2,119 bytes</a:t>
            </a:r>
            <a:endParaRPr lang="en-US" sz="1400" dirty="0"/>
          </a:p>
        </p:txBody>
      </p:sp>
      <p:sp>
        <p:nvSpPr>
          <p:cNvPr id="23" name="Shape 21"/>
          <p:cNvSpPr/>
          <p:nvPr/>
        </p:nvSpPr>
        <p:spPr>
          <a:xfrm>
            <a:off x="8549640" y="4617720"/>
            <a:ext cx="3001975" cy="1280160"/>
          </a:xfrm>
          <a:prstGeom prst="rect">
            <a:avLst/>
          </a:prstGeom>
          <a:ln w="12700">
            <a:solidFill>
              <a:srgbClr val="F1EEE6"/>
            </a:solidFill>
            <a:prstDash val="solid"/>
          </a:ln>
        </p:spPr>
      </p:sp>
      <p:sp>
        <p:nvSpPr>
          <p:cNvPr id="24" name="Text 22"/>
          <p:cNvSpPr/>
          <p:nvPr/>
        </p:nvSpPr>
        <p:spPr>
          <a:xfrm>
            <a:off x="8732520" y="4617720"/>
            <a:ext cx="2636215" cy="1280160"/>
          </a:xfrm>
          <a:prstGeom prst="rect">
            <a:avLst/>
          </a:prstGeom>
          <a:noFill/>
          <a:ln/>
        </p:spPr>
        <p:txBody>
          <a:bodyPr wrap="square" lIns="0" tIns="0" rIns="0" bIns="0" rtlCol="0" anchor="ctr"/>
          <a:lstStyle/>
          <a:p>
            <a:pPr indent="0" marL="0">
              <a:buNone/>
            </a:pPr>
            <a:r>
              <a:rPr lang="en-US" sz="1500" dirty="0">
                <a:solidFill>
                  <a:srgbClr val="F1EEE6"/>
                </a:solidFill>
                <a:latin typeface="Instrument Sans" pitchFamily="34" charset="0"/>
                <a:ea typeface="Instrument Sans" pitchFamily="34" charset="-122"/>
                <a:cs typeface="Instrument Sans" pitchFamily="34" charset="-120"/>
              </a:rPr>
              <a:t>Standalone proof generated.</a:t>
            </a:r>
            <a:endParaRPr lang="en-US" sz="1500" dirty="0"/>
          </a:p>
          <a:p>
            <a:pPr indent="0" marL="0">
              <a:buNone/>
            </a:pPr>
            <a:r>
              <a:rPr lang="en-US" sz="1500" dirty="0">
                <a:solidFill>
                  <a:srgbClr val="F1EEE6"/>
                </a:solidFill>
                <a:latin typeface="Instrument Sans" pitchFamily="34" charset="0"/>
                <a:ea typeface="Instrument Sans" pitchFamily="34" charset="-122"/>
                <a:cs typeface="Instrument Sans" pitchFamily="34" charset="-120"/>
              </a:rPr>
              <a:t>Network deployment not claimed.</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EEE6"/>
        </a:solidFill>
      </p:bgPr>
    </p:bg>
    <p:spTree>
      <p:nvGrpSpPr>
        <p:cNvPr id="1" name=""/>
        <p:cNvGrpSpPr/>
        <p:nvPr/>
      </p:nvGrpSpPr>
      <p:grpSpPr>
        <a:xfrm>
          <a:off x="0" y="0"/>
          <a:ext cx="0" cy="0"/>
          <a:chOff x="0" y="0"/>
          <a:chExt cx="0" cy="0"/>
        </a:xfrm>
      </p:grpSpPr>
      <p:sp>
        <p:nvSpPr>
          <p:cNvPr id="2" name="Shape 0"/>
          <p:cNvSpPr/>
          <p:nvPr/>
        </p:nvSpPr>
        <p:spPr>
          <a:xfrm>
            <a:off x="658368" y="466344"/>
            <a:ext cx="91440" cy="182880"/>
          </a:xfrm>
          <a:prstGeom prst="rect">
            <a:avLst/>
          </a:prstGeom>
          <a:solidFill>
            <a:srgbClr val="0A0A0A"/>
          </a:solidFill>
          <a:ln w="12700">
            <a:solidFill>
              <a:srgbClr val="0A0A0A"/>
            </a:solidFill>
            <a:prstDash val="solid"/>
          </a:ln>
        </p:spPr>
      </p:sp>
      <p:sp>
        <p:nvSpPr>
          <p:cNvPr id="3" name="Shape 1"/>
          <p:cNvSpPr/>
          <p:nvPr/>
        </p:nvSpPr>
        <p:spPr>
          <a:xfrm>
            <a:off x="768096" y="429768"/>
            <a:ext cx="36576" cy="256032"/>
          </a:xfrm>
          <a:prstGeom prst="rect">
            <a:avLst/>
          </a:prstGeom>
          <a:solidFill>
            <a:srgbClr val="0A0A0A"/>
          </a:solidFill>
          <a:ln w="12700">
            <a:solidFill>
              <a:srgbClr val="0A0A0A"/>
            </a:solidFill>
            <a:prstDash val="solid"/>
          </a:ln>
        </p:spPr>
      </p:sp>
      <p:sp>
        <p:nvSpPr>
          <p:cNvPr id="4" name="Shape 2"/>
          <p:cNvSpPr/>
          <p:nvPr/>
        </p:nvSpPr>
        <p:spPr>
          <a:xfrm>
            <a:off x="832104" y="475488"/>
            <a:ext cx="73152" cy="164592"/>
          </a:xfrm>
          <a:prstGeom prst="rect">
            <a:avLst/>
          </a:prstGeom>
          <a:ln w="18288">
            <a:solidFill>
              <a:srgbClr val="0A0A0A"/>
            </a:solidFill>
            <a:prstDash val="solid"/>
          </a:ln>
        </p:spPr>
      </p:sp>
      <p:sp>
        <p:nvSpPr>
          <p:cNvPr id="5" name="Text 3"/>
          <p:cNvSpPr/>
          <p:nvPr/>
        </p:nvSpPr>
        <p:spPr>
          <a:xfrm>
            <a:off x="1051560" y="429768"/>
            <a:ext cx="2743200" cy="274320"/>
          </a:xfrm>
          <a:prstGeom prst="rect">
            <a:avLst/>
          </a:prstGeom>
          <a:noFill/>
          <a:ln/>
        </p:spPr>
        <p:txBody>
          <a:bodyPr wrap="square" lIns="0" tIns="0" rIns="0" bIns="0" rtlCol="0" anchor="ctr"/>
          <a:lstStyle/>
          <a:p>
            <a:pPr indent="0" marL="0">
              <a:buNone/>
            </a:pPr>
            <a:r>
              <a:rPr lang="en-US" sz="1100" b="1" spc="300" kern="0" dirty="0">
                <a:solidFill>
                  <a:srgbClr val="0A0A0A"/>
                </a:solidFill>
                <a:latin typeface="IBM Plex Mono" pitchFamily="34" charset="0"/>
                <a:ea typeface="IBM Plex Mono" pitchFamily="34" charset="-122"/>
                <a:cs typeface="IBM Plex Mono" pitchFamily="34" charset="-120"/>
              </a:rPr>
              <a:t>CLOSED BOOK</a:t>
            </a:r>
            <a:endParaRPr lang="en-US" sz="1100" dirty="0"/>
          </a:p>
        </p:txBody>
      </p:sp>
      <p:sp>
        <p:nvSpPr>
          <p:cNvPr id="6" name="Text 4"/>
          <p:cNvSpPr/>
          <p:nvPr/>
        </p:nvSpPr>
        <p:spPr>
          <a:xfrm>
            <a:off x="7894015" y="429768"/>
            <a:ext cx="3657600" cy="274320"/>
          </a:xfrm>
          <a:prstGeom prst="rect">
            <a:avLst/>
          </a:prstGeom>
          <a:noFill/>
          <a:ln/>
        </p:spPr>
        <p:txBody>
          <a:bodyPr wrap="square" lIns="0" tIns="0" rIns="0" bIns="0" rtlCol="0" anchor="ctr"/>
          <a:lstStyle/>
          <a:p>
            <a:pPr algn="r" indent="0" marL="0">
              <a:buNone/>
            </a:pPr>
            <a:r>
              <a:rPr lang="en-US" sz="1100" spc="300" kern="0" dirty="0">
                <a:solidFill>
                  <a:srgbClr val="6C6A64"/>
                </a:solidFill>
                <a:latin typeface="IBM Plex Mono" pitchFamily="34" charset="0"/>
                <a:ea typeface="IBM Plex Mono" pitchFamily="34" charset="-122"/>
                <a:cs typeface="IBM Plex Mono" pitchFamily="34" charset="-120"/>
              </a:rPr>
              <a:t>06 · TRUST BOUNDARY</a:t>
            </a:r>
            <a:endParaRPr lang="en-US" sz="1100" dirty="0"/>
          </a:p>
        </p:txBody>
      </p:sp>
      <p:sp>
        <p:nvSpPr>
          <p:cNvPr id="7" name="Shape 5"/>
          <p:cNvSpPr/>
          <p:nvPr/>
        </p:nvSpPr>
        <p:spPr>
          <a:xfrm>
            <a:off x="640080" y="868680"/>
            <a:ext cx="10911535" cy="0"/>
          </a:xfrm>
          <a:prstGeom prst="line">
            <a:avLst/>
          </a:prstGeom>
          <a:noFill/>
          <a:ln w="9525">
            <a:solidFill>
              <a:srgbClr val="0A0A0A"/>
            </a:solidFill>
            <a:prstDash val="solid"/>
          </a:ln>
        </p:spPr>
      </p:sp>
      <p:sp>
        <p:nvSpPr>
          <p:cNvPr id="8" name="Text 6"/>
          <p:cNvSpPr/>
          <p:nvPr/>
        </p:nvSpPr>
        <p:spPr>
          <a:xfrm>
            <a:off x="640080" y="1097280"/>
            <a:ext cx="10911535" cy="731520"/>
          </a:xfrm>
          <a:prstGeom prst="rect">
            <a:avLst/>
          </a:prstGeom>
          <a:noFill/>
          <a:ln/>
        </p:spPr>
        <p:txBody>
          <a:bodyPr wrap="square" lIns="0" tIns="0" rIns="0" bIns="0" rtlCol="0" anchor="ctr"/>
          <a:lstStyle/>
          <a:p>
            <a:pPr indent="0" marL="0">
              <a:buNone/>
            </a:pPr>
            <a:r>
              <a:rPr lang="en-US" sz="3400" dirty="0">
                <a:solidFill>
                  <a:srgbClr val="0A0A0A"/>
                </a:solidFill>
                <a:latin typeface="Instrument Serif" pitchFamily="34" charset="0"/>
                <a:ea typeface="Instrument Serif" pitchFamily="34" charset="-122"/>
                <a:cs typeface="Instrument Serif" pitchFamily="34" charset="-120"/>
              </a:rPr>
              <a:t>What CLOSED BOOK proves, and what it does not.</a:t>
            </a:r>
            <a:endParaRPr lang="en-US" sz="3400" dirty="0"/>
          </a:p>
        </p:txBody>
      </p:sp>
      <p:sp>
        <p:nvSpPr>
          <p:cNvPr id="9" name="Text 7"/>
          <p:cNvSpPr/>
          <p:nvPr/>
        </p:nvSpPr>
        <p:spPr>
          <a:xfrm>
            <a:off x="640080" y="2240280"/>
            <a:ext cx="5029200" cy="274320"/>
          </a:xfrm>
          <a:prstGeom prst="rect">
            <a:avLst/>
          </a:prstGeom>
          <a:noFill/>
          <a:ln/>
        </p:spPr>
        <p:txBody>
          <a:bodyPr wrap="square" lIns="0" tIns="0" rIns="0" bIns="0" rtlCol="0" anchor="ctr"/>
          <a:lstStyle/>
          <a:p>
            <a:pPr indent="0" marL="0">
              <a:buNone/>
            </a:pPr>
            <a:r>
              <a:rPr lang="en-US" sz="1100" b="1" spc="300" kern="0" dirty="0">
                <a:solidFill>
                  <a:srgbClr val="0A0A0A"/>
                </a:solidFill>
                <a:latin typeface="IBM Plex Mono" pitchFamily="34" charset="0"/>
                <a:ea typeface="IBM Plex Mono" pitchFamily="34" charset="-122"/>
                <a:cs typeface="IBM Plex Mono" pitchFamily="34" charset="-120"/>
              </a:rPr>
              <a:t>PROVES</a:t>
            </a:r>
            <a:endParaRPr lang="en-US" sz="1100" dirty="0"/>
          </a:p>
        </p:txBody>
      </p:sp>
      <p:sp>
        <p:nvSpPr>
          <p:cNvPr id="10" name="Shape 8"/>
          <p:cNvSpPr/>
          <p:nvPr/>
        </p:nvSpPr>
        <p:spPr>
          <a:xfrm>
            <a:off x="640080" y="2606040"/>
            <a:ext cx="5120640" cy="0"/>
          </a:xfrm>
          <a:prstGeom prst="line">
            <a:avLst/>
          </a:prstGeom>
          <a:noFill/>
          <a:ln w="12700">
            <a:solidFill>
              <a:srgbClr val="0A0A0A"/>
            </a:solidFill>
            <a:prstDash val="solid"/>
          </a:ln>
        </p:spPr>
      </p:sp>
      <p:sp>
        <p:nvSpPr>
          <p:cNvPr id="11" name="Shape 9"/>
          <p:cNvSpPr/>
          <p:nvPr/>
        </p:nvSpPr>
        <p:spPr>
          <a:xfrm>
            <a:off x="640080" y="2898648"/>
            <a:ext cx="128016" cy="128016"/>
          </a:xfrm>
          <a:prstGeom prst="rect">
            <a:avLst/>
          </a:prstGeom>
          <a:solidFill>
            <a:srgbClr val="0A0A0A"/>
          </a:solidFill>
          <a:ln w="12700">
            <a:solidFill>
              <a:srgbClr val="0A0A0A"/>
            </a:solidFill>
            <a:prstDash val="solid"/>
          </a:ln>
        </p:spPr>
      </p:sp>
      <p:sp>
        <p:nvSpPr>
          <p:cNvPr id="12" name="Text 10"/>
          <p:cNvSpPr/>
          <p:nvPr/>
        </p:nvSpPr>
        <p:spPr>
          <a:xfrm>
            <a:off x="960120" y="2788920"/>
            <a:ext cx="4754880" cy="365760"/>
          </a:xfrm>
          <a:prstGeom prst="rect">
            <a:avLst/>
          </a:prstGeom>
          <a:noFill/>
          <a:ln/>
        </p:spPr>
        <p:txBody>
          <a:bodyPr wrap="square" lIns="0" tIns="0" rIns="0" bIns="0" rtlCol="0" anchor="ctr"/>
          <a:lstStyle/>
          <a:p>
            <a:pPr indent="0" marL="0">
              <a:buNone/>
            </a:pPr>
            <a:r>
              <a:rPr lang="en-US" sz="1800" dirty="0">
                <a:solidFill>
                  <a:srgbClr val="0A0A0A"/>
                </a:solidFill>
                <a:latin typeface="Instrument Sans" pitchFamily="34" charset="0"/>
                <a:ea typeface="Instrument Sans" pitchFamily="34" charset="-122"/>
                <a:cs typeface="Instrument Sans" pitchFamily="34" charset="-120"/>
              </a:rPr>
              <a:t>Authorized evaluator</a:t>
            </a:r>
            <a:endParaRPr lang="en-US" sz="1800" dirty="0"/>
          </a:p>
        </p:txBody>
      </p:sp>
      <p:sp>
        <p:nvSpPr>
          <p:cNvPr id="13" name="Shape 11"/>
          <p:cNvSpPr/>
          <p:nvPr/>
        </p:nvSpPr>
        <p:spPr>
          <a:xfrm>
            <a:off x="640080" y="3374136"/>
            <a:ext cx="128016" cy="128016"/>
          </a:xfrm>
          <a:prstGeom prst="rect">
            <a:avLst/>
          </a:prstGeom>
          <a:solidFill>
            <a:srgbClr val="0A0A0A"/>
          </a:solidFill>
          <a:ln w="12700">
            <a:solidFill>
              <a:srgbClr val="0A0A0A"/>
            </a:solidFill>
            <a:prstDash val="solid"/>
          </a:ln>
        </p:spPr>
      </p:sp>
      <p:sp>
        <p:nvSpPr>
          <p:cNvPr id="14" name="Text 12"/>
          <p:cNvSpPr/>
          <p:nvPr/>
        </p:nvSpPr>
        <p:spPr>
          <a:xfrm>
            <a:off x="960120" y="3264408"/>
            <a:ext cx="4754880" cy="365760"/>
          </a:xfrm>
          <a:prstGeom prst="rect">
            <a:avLst/>
          </a:prstGeom>
          <a:noFill/>
          <a:ln/>
        </p:spPr>
        <p:txBody>
          <a:bodyPr wrap="square" lIns="0" tIns="0" rIns="0" bIns="0" rtlCol="0" anchor="ctr"/>
          <a:lstStyle/>
          <a:p>
            <a:pPr indent="0" marL="0">
              <a:buNone/>
            </a:pPr>
            <a:r>
              <a:rPr lang="en-US" sz="1800" dirty="0">
                <a:solidFill>
                  <a:srgbClr val="0A0A0A"/>
                </a:solidFill>
                <a:latin typeface="Instrument Sans" pitchFamily="34" charset="0"/>
                <a:ea typeface="Instrument Sans" pitchFamily="34" charset="-122"/>
                <a:cs typeface="Instrument Sans" pitchFamily="34" charset="-120"/>
              </a:rPr>
              <a:t>Exact model commitment</a:t>
            </a:r>
            <a:endParaRPr lang="en-US" sz="1800" dirty="0"/>
          </a:p>
        </p:txBody>
      </p:sp>
      <p:sp>
        <p:nvSpPr>
          <p:cNvPr id="15" name="Shape 13"/>
          <p:cNvSpPr/>
          <p:nvPr/>
        </p:nvSpPr>
        <p:spPr>
          <a:xfrm>
            <a:off x="640080" y="3849624"/>
            <a:ext cx="128016" cy="128016"/>
          </a:xfrm>
          <a:prstGeom prst="rect">
            <a:avLst/>
          </a:prstGeom>
          <a:solidFill>
            <a:srgbClr val="0A0A0A"/>
          </a:solidFill>
          <a:ln w="12700">
            <a:solidFill>
              <a:srgbClr val="0A0A0A"/>
            </a:solidFill>
            <a:prstDash val="solid"/>
          </a:ln>
        </p:spPr>
      </p:sp>
      <p:sp>
        <p:nvSpPr>
          <p:cNvPr id="16" name="Text 14"/>
          <p:cNvSpPr/>
          <p:nvPr/>
        </p:nvSpPr>
        <p:spPr>
          <a:xfrm>
            <a:off x="960120" y="3739896"/>
            <a:ext cx="4754880" cy="365760"/>
          </a:xfrm>
          <a:prstGeom prst="rect">
            <a:avLst/>
          </a:prstGeom>
          <a:noFill/>
          <a:ln/>
        </p:spPr>
        <p:txBody>
          <a:bodyPr wrap="square" lIns="0" tIns="0" rIns="0" bIns="0" rtlCol="0" anchor="ctr"/>
          <a:lstStyle/>
          <a:p>
            <a:pPr indent="0" marL="0">
              <a:buNone/>
            </a:pPr>
            <a:r>
              <a:rPr lang="en-US" sz="1800" dirty="0">
                <a:solidFill>
                  <a:srgbClr val="0A0A0A"/>
                </a:solidFill>
                <a:latin typeface="Instrument Sans" pitchFamily="34" charset="0"/>
                <a:ea typeface="Instrument Sans" pitchFamily="34" charset="-122"/>
                <a:cs typeface="Instrument Sans" pitchFamily="34" charset="-120"/>
              </a:rPr>
              <a:t>Exact suite commitment</a:t>
            </a:r>
            <a:endParaRPr lang="en-US" sz="1800" dirty="0"/>
          </a:p>
        </p:txBody>
      </p:sp>
      <p:sp>
        <p:nvSpPr>
          <p:cNvPr id="17" name="Shape 15"/>
          <p:cNvSpPr/>
          <p:nvPr/>
        </p:nvSpPr>
        <p:spPr>
          <a:xfrm>
            <a:off x="640080" y="4325112"/>
            <a:ext cx="128016" cy="128016"/>
          </a:xfrm>
          <a:prstGeom prst="rect">
            <a:avLst/>
          </a:prstGeom>
          <a:solidFill>
            <a:srgbClr val="0A0A0A"/>
          </a:solidFill>
          <a:ln w="12700">
            <a:solidFill>
              <a:srgbClr val="0A0A0A"/>
            </a:solidFill>
            <a:prstDash val="solid"/>
          </a:ln>
        </p:spPr>
      </p:sp>
      <p:sp>
        <p:nvSpPr>
          <p:cNvPr id="18" name="Text 16"/>
          <p:cNvSpPr/>
          <p:nvPr/>
        </p:nvSpPr>
        <p:spPr>
          <a:xfrm>
            <a:off x="960120" y="4215384"/>
            <a:ext cx="4754880" cy="365760"/>
          </a:xfrm>
          <a:prstGeom prst="rect">
            <a:avLst/>
          </a:prstGeom>
          <a:noFill/>
          <a:ln/>
        </p:spPr>
        <p:txBody>
          <a:bodyPr wrap="square" lIns="0" tIns="0" rIns="0" bIns="0" rtlCol="0" anchor="ctr"/>
          <a:lstStyle/>
          <a:p>
            <a:pPr indent="0" marL="0">
              <a:buNone/>
            </a:pPr>
            <a:r>
              <a:rPr lang="en-US" sz="1800" dirty="0">
                <a:solidFill>
                  <a:srgbClr val="0A0A0A"/>
                </a:solidFill>
                <a:latin typeface="Instrument Sans" pitchFamily="34" charset="0"/>
                <a:ea typeface="Instrument Sans" pitchFamily="34" charset="-122"/>
                <a:cs typeface="Instrument Sans" pitchFamily="34" charset="-120"/>
              </a:rPr>
              <a:t>Private threshold satisfaction</a:t>
            </a:r>
            <a:endParaRPr lang="en-US" sz="1800" dirty="0"/>
          </a:p>
        </p:txBody>
      </p:sp>
      <p:sp>
        <p:nvSpPr>
          <p:cNvPr id="19" name="Shape 17"/>
          <p:cNvSpPr/>
          <p:nvPr/>
        </p:nvSpPr>
        <p:spPr>
          <a:xfrm>
            <a:off x="640080" y="4800600"/>
            <a:ext cx="128016" cy="128016"/>
          </a:xfrm>
          <a:prstGeom prst="rect">
            <a:avLst/>
          </a:prstGeom>
          <a:solidFill>
            <a:srgbClr val="0A0A0A"/>
          </a:solidFill>
          <a:ln w="12700">
            <a:solidFill>
              <a:srgbClr val="0A0A0A"/>
            </a:solidFill>
            <a:prstDash val="solid"/>
          </a:ln>
        </p:spPr>
      </p:sp>
      <p:sp>
        <p:nvSpPr>
          <p:cNvPr id="20" name="Text 18"/>
          <p:cNvSpPr/>
          <p:nvPr/>
        </p:nvSpPr>
        <p:spPr>
          <a:xfrm>
            <a:off x="960120" y="4690872"/>
            <a:ext cx="4754880" cy="365760"/>
          </a:xfrm>
          <a:prstGeom prst="rect">
            <a:avLst/>
          </a:prstGeom>
          <a:noFill/>
          <a:ln/>
        </p:spPr>
        <p:txBody>
          <a:bodyPr wrap="square" lIns="0" tIns="0" rIns="0" bIns="0" rtlCol="0" anchor="ctr"/>
          <a:lstStyle/>
          <a:p>
            <a:pPr indent="0" marL="0">
              <a:buNone/>
            </a:pPr>
            <a:r>
              <a:rPr lang="en-US" sz="1800" dirty="0">
                <a:solidFill>
                  <a:srgbClr val="0A0A0A"/>
                </a:solidFill>
                <a:latin typeface="Instrument Sans" pitchFamily="34" charset="0"/>
                <a:ea typeface="Instrument Sans" pitchFamily="34" charset="-122"/>
                <a:cs typeface="Instrument Sans" pitchFamily="34" charset="-120"/>
              </a:rPr>
              <a:t>Evidence binding</a:t>
            </a:r>
            <a:endParaRPr lang="en-US" sz="1800" dirty="0"/>
          </a:p>
        </p:txBody>
      </p:sp>
      <p:sp>
        <p:nvSpPr>
          <p:cNvPr id="21" name="Shape 19"/>
          <p:cNvSpPr/>
          <p:nvPr/>
        </p:nvSpPr>
        <p:spPr>
          <a:xfrm>
            <a:off x="640080" y="5276088"/>
            <a:ext cx="128016" cy="128016"/>
          </a:xfrm>
          <a:prstGeom prst="rect">
            <a:avLst/>
          </a:prstGeom>
          <a:solidFill>
            <a:srgbClr val="0A0A0A"/>
          </a:solidFill>
          <a:ln w="12700">
            <a:solidFill>
              <a:srgbClr val="0A0A0A"/>
            </a:solidFill>
            <a:prstDash val="solid"/>
          </a:ln>
        </p:spPr>
      </p:sp>
      <p:sp>
        <p:nvSpPr>
          <p:cNvPr id="22" name="Text 20"/>
          <p:cNvSpPr/>
          <p:nvPr/>
        </p:nvSpPr>
        <p:spPr>
          <a:xfrm>
            <a:off x="960120" y="5166360"/>
            <a:ext cx="4754880" cy="365760"/>
          </a:xfrm>
          <a:prstGeom prst="rect">
            <a:avLst/>
          </a:prstGeom>
          <a:noFill/>
          <a:ln/>
        </p:spPr>
        <p:txBody>
          <a:bodyPr wrap="square" lIns="0" tIns="0" rIns="0" bIns="0" rtlCol="0" anchor="ctr"/>
          <a:lstStyle/>
          <a:p>
            <a:pPr indent="0" marL="0">
              <a:buNone/>
            </a:pPr>
            <a:r>
              <a:rPr lang="en-US" sz="1800" dirty="0">
                <a:solidFill>
                  <a:srgbClr val="0A0A0A"/>
                </a:solidFill>
                <a:latin typeface="Instrument Sans" pitchFamily="34" charset="0"/>
                <a:ea typeface="Instrument Sans" pitchFamily="34" charset="-122"/>
                <a:cs typeface="Instrument Sans" pitchFamily="34" charset="-120"/>
              </a:rPr>
              <a:t>Release uniqueness</a:t>
            </a:r>
            <a:endParaRPr lang="en-US" sz="1800" dirty="0"/>
          </a:p>
        </p:txBody>
      </p:sp>
      <p:sp>
        <p:nvSpPr>
          <p:cNvPr id="23" name="Text 21"/>
          <p:cNvSpPr/>
          <p:nvPr/>
        </p:nvSpPr>
        <p:spPr>
          <a:xfrm>
            <a:off x="6430975" y="2240280"/>
            <a:ext cx="5029200" cy="274320"/>
          </a:xfrm>
          <a:prstGeom prst="rect">
            <a:avLst/>
          </a:prstGeom>
          <a:noFill/>
          <a:ln/>
        </p:spPr>
        <p:txBody>
          <a:bodyPr wrap="square" lIns="0" tIns="0" rIns="0" bIns="0" rtlCol="0" anchor="ctr"/>
          <a:lstStyle/>
          <a:p>
            <a:pPr indent="0" marL="0">
              <a:buNone/>
            </a:pPr>
            <a:r>
              <a:rPr lang="en-US" sz="1100" b="1" spc="300" kern="0" dirty="0">
                <a:solidFill>
                  <a:srgbClr val="0A0A0A"/>
                </a:solidFill>
                <a:latin typeface="IBM Plex Mono" pitchFamily="34" charset="0"/>
                <a:ea typeface="IBM Plex Mono" pitchFamily="34" charset="-122"/>
                <a:cs typeface="IBM Plex Mono" pitchFamily="34" charset="-120"/>
              </a:rPr>
              <a:t>DOES NOT PROVE</a:t>
            </a:r>
            <a:endParaRPr lang="en-US" sz="1100" dirty="0"/>
          </a:p>
        </p:txBody>
      </p:sp>
      <p:sp>
        <p:nvSpPr>
          <p:cNvPr id="24" name="Shape 22"/>
          <p:cNvSpPr/>
          <p:nvPr/>
        </p:nvSpPr>
        <p:spPr>
          <a:xfrm>
            <a:off x="6430975" y="2606040"/>
            <a:ext cx="5120640" cy="0"/>
          </a:xfrm>
          <a:prstGeom prst="line">
            <a:avLst/>
          </a:prstGeom>
          <a:noFill/>
          <a:ln w="12700">
            <a:solidFill>
              <a:srgbClr val="0A0A0A"/>
            </a:solidFill>
            <a:prstDash val="solid"/>
          </a:ln>
        </p:spPr>
      </p:sp>
      <p:sp>
        <p:nvSpPr>
          <p:cNvPr id="25" name="Shape 23"/>
          <p:cNvSpPr/>
          <p:nvPr/>
        </p:nvSpPr>
        <p:spPr>
          <a:xfrm>
            <a:off x="6430975" y="2898648"/>
            <a:ext cx="128016" cy="128016"/>
          </a:xfrm>
          <a:prstGeom prst="rect">
            <a:avLst/>
          </a:prstGeom>
          <a:solidFill>
            <a:srgbClr val="E95136"/>
          </a:solidFill>
          <a:ln w="12700">
            <a:solidFill>
              <a:srgbClr val="E95136"/>
            </a:solidFill>
            <a:prstDash val="solid"/>
          </a:ln>
        </p:spPr>
      </p:sp>
      <p:sp>
        <p:nvSpPr>
          <p:cNvPr id="26" name="Text 24"/>
          <p:cNvSpPr/>
          <p:nvPr/>
        </p:nvSpPr>
        <p:spPr>
          <a:xfrm>
            <a:off x="6751015" y="2788920"/>
            <a:ext cx="4754880" cy="365760"/>
          </a:xfrm>
          <a:prstGeom prst="rect">
            <a:avLst/>
          </a:prstGeom>
          <a:noFill/>
          <a:ln/>
        </p:spPr>
        <p:txBody>
          <a:bodyPr wrap="square" lIns="0" tIns="0" rIns="0" bIns="0" rtlCol="0" anchor="ctr"/>
          <a:lstStyle/>
          <a:p>
            <a:pPr indent="0" marL="0">
              <a:buNone/>
            </a:pPr>
            <a:r>
              <a:rPr lang="en-US" sz="1800" dirty="0">
                <a:solidFill>
                  <a:srgbClr val="0A0A0A"/>
                </a:solidFill>
                <a:latin typeface="Instrument Sans" pitchFamily="34" charset="0"/>
                <a:ea typeface="Instrument Sans" pitchFamily="34" charset="-122"/>
                <a:cs typeface="Instrument Sans" pitchFamily="34" charset="-120"/>
              </a:rPr>
              <a:t>LLM execution inside ZK</a:t>
            </a:r>
            <a:endParaRPr lang="en-US" sz="1800" dirty="0"/>
          </a:p>
        </p:txBody>
      </p:sp>
      <p:sp>
        <p:nvSpPr>
          <p:cNvPr id="27" name="Shape 25"/>
          <p:cNvSpPr/>
          <p:nvPr/>
        </p:nvSpPr>
        <p:spPr>
          <a:xfrm>
            <a:off x="6430975" y="3374136"/>
            <a:ext cx="128016" cy="128016"/>
          </a:xfrm>
          <a:prstGeom prst="rect">
            <a:avLst/>
          </a:prstGeom>
          <a:solidFill>
            <a:srgbClr val="E95136"/>
          </a:solidFill>
          <a:ln w="12700">
            <a:solidFill>
              <a:srgbClr val="E95136"/>
            </a:solidFill>
            <a:prstDash val="solid"/>
          </a:ln>
        </p:spPr>
      </p:sp>
      <p:sp>
        <p:nvSpPr>
          <p:cNvPr id="28" name="Text 26"/>
          <p:cNvSpPr/>
          <p:nvPr/>
        </p:nvSpPr>
        <p:spPr>
          <a:xfrm>
            <a:off x="6751015" y="3264408"/>
            <a:ext cx="4754880" cy="365760"/>
          </a:xfrm>
          <a:prstGeom prst="rect">
            <a:avLst/>
          </a:prstGeom>
          <a:noFill/>
          <a:ln/>
        </p:spPr>
        <p:txBody>
          <a:bodyPr wrap="square" lIns="0" tIns="0" rIns="0" bIns="0" rtlCol="0" anchor="ctr"/>
          <a:lstStyle/>
          <a:p>
            <a:pPr indent="0" marL="0">
              <a:buNone/>
            </a:pPr>
            <a:r>
              <a:rPr lang="en-US" sz="1800" dirty="0">
                <a:solidFill>
                  <a:srgbClr val="0A0A0A"/>
                </a:solidFill>
                <a:latin typeface="Instrument Sans" pitchFamily="34" charset="0"/>
                <a:ea typeface="Instrument Sans" pitchFamily="34" charset="-122"/>
                <a:cs typeface="Instrument Sans" pitchFamily="34" charset="-120"/>
              </a:rPr>
              <a:t>Truthful measurements by the evaluator</a:t>
            </a:r>
            <a:endParaRPr lang="en-US" sz="1800" dirty="0"/>
          </a:p>
        </p:txBody>
      </p:sp>
      <p:sp>
        <p:nvSpPr>
          <p:cNvPr id="29" name="Shape 27"/>
          <p:cNvSpPr/>
          <p:nvPr/>
        </p:nvSpPr>
        <p:spPr>
          <a:xfrm>
            <a:off x="6430975" y="3849624"/>
            <a:ext cx="128016" cy="128016"/>
          </a:xfrm>
          <a:prstGeom prst="rect">
            <a:avLst/>
          </a:prstGeom>
          <a:solidFill>
            <a:srgbClr val="E95136"/>
          </a:solidFill>
          <a:ln w="12700">
            <a:solidFill>
              <a:srgbClr val="E95136"/>
            </a:solidFill>
            <a:prstDash val="solid"/>
          </a:ln>
        </p:spPr>
      </p:sp>
      <p:sp>
        <p:nvSpPr>
          <p:cNvPr id="30" name="Text 28"/>
          <p:cNvSpPr/>
          <p:nvPr/>
        </p:nvSpPr>
        <p:spPr>
          <a:xfrm>
            <a:off x="6751015" y="3739896"/>
            <a:ext cx="4754880" cy="365760"/>
          </a:xfrm>
          <a:prstGeom prst="rect">
            <a:avLst/>
          </a:prstGeom>
          <a:noFill/>
          <a:ln/>
        </p:spPr>
        <p:txBody>
          <a:bodyPr wrap="square" lIns="0" tIns="0" rIns="0" bIns="0" rtlCol="0" anchor="ctr"/>
          <a:lstStyle/>
          <a:p>
            <a:pPr indent="0" marL="0">
              <a:buNone/>
            </a:pPr>
            <a:r>
              <a:rPr lang="en-US" sz="1800" dirty="0">
                <a:solidFill>
                  <a:srgbClr val="0A0A0A"/>
                </a:solidFill>
                <a:latin typeface="Instrument Sans" pitchFamily="34" charset="0"/>
                <a:ea typeface="Instrument Sans" pitchFamily="34" charset="-122"/>
                <a:cs typeface="Instrument Sans" pitchFamily="34" charset="-120"/>
              </a:rPr>
              <a:t>Suite quality</a:t>
            </a:r>
            <a:endParaRPr lang="en-US" sz="1800" dirty="0"/>
          </a:p>
        </p:txBody>
      </p:sp>
      <p:sp>
        <p:nvSpPr>
          <p:cNvPr id="31" name="Shape 29"/>
          <p:cNvSpPr/>
          <p:nvPr/>
        </p:nvSpPr>
        <p:spPr>
          <a:xfrm>
            <a:off x="6430975" y="4325112"/>
            <a:ext cx="128016" cy="128016"/>
          </a:xfrm>
          <a:prstGeom prst="rect">
            <a:avLst/>
          </a:prstGeom>
          <a:solidFill>
            <a:srgbClr val="E95136"/>
          </a:solidFill>
          <a:ln w="12700">
            <a:solidFill>
              <a:srgbClr val="E95136"/>
            </a:solidFill>
            <a:prstDash val="solid"/>
          </a:ln>
        </p:spPr>
      </p:sp>
      <p:sp>
        <p:nvSpPr>
          <p:cNvPr id="32" name="Text 30"/>
          <p:cNvSpPr/>
          <p:nvPr/>
        </p:nvSpPr>
        <p:spPr>
          <a:xfrm>
            <a:off x="6751015" y="4215384"/>
            <a:ext cx="4754880" cy="365760"/>
          </a:xfrm>
          <a:prstGeom prst="rect">
            <a:avLst/>
          </a:prstGeom>
          <a:noFill/>
          <a:ln/>
        </p:spPr>
        <p:txBody>
          <a:bodyPr wrap="square" lIns="0" tIns="0" rIns="0" bIns="0" rtlCol="0" anchor="ctr"/>
          <a:lstStyle/>
          <a:p>
            <a:pPr indent="0" marL="0">
              <a:buNone/>
            </a:pPr>
            <a:r>
              <a:rPr lang="en-US" sz="1800" dirty="0">
                <a:solidFill>
                  <a:srgbClr val="0A0A0A"/>
                </a:solidFill>
                <a:latin typeface="Instrument Sans" pitchFamily="34" charset="0"/>
                <a:ea typeface="Instrument Sans" pitchFamily="34" charset="-122"/>
                <a:cs typeface="Instrument Sans" pitchFamily="34" charset="-120"/>
              </a:rPr>
              <a:t>Universal model safety</a:t>
            </a:r>
            <a:endParaRPr lang="en-US" sz="1800" dirty="0"/>
          </a:p>
        </p:txBody>
      </p:sp>
      <p:sp>
        <p:nvSpPr>
          <p:cNvPr id="33" name="Text 31"/>
          <p:cNvSpPr/>
          <p:nvPr/>
        </p:nvSpPr>
        <p:spPr>
          <a:xfrm>
            <a:off x="640080" y="5897880"/>
            <a:ext cx="10911535" cy="457200"/>
          </a:xfrm>
          <a:prstGeom prst="rect">
            <a:avLst/>
          </a:prstGeom>
          <a:noFill/>
          <a:ln/>
        </p:spPr>
        <p:txBody>
          <a:bodyPr wrap="square" lIns="0" tIns="0" rIns="0" bIns="0" rtlCol="0" anchor="ctr"/>
          <a:lstStyle/>
          <a:p>
            <a:pPr indent="0" marL="0">
              <a:buNone/>
            </a:pPr>
            <a:r>
              <a:rPr lang="en-US" sz="2600" i="1" dirty="0">
                <a:solidFill>
                  <a:srgbClr val="0A0A0A"/>
                </a:solidFill>
                <a:latin typeface="Instrument Serif" pitchFamily="34" charset="0"/>
                <a:ea typeface="Instrument Serif" pitchFamily="34" charset="-122"/>
                <a:cs typeface="Instrument Serif" pitchFamily="34" charset="-120"/>
              </a:rPr>
              <a:t>The protocol makes a narrow claim — and proves that claim precisely.</a:t>
            </a:r>
            <a:endParaRPr lang="en-US" sz="2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674370" y="651510"/>
            <a:ext cx="171450" cy="342900"/>
          </a:xfrm>
          <a:prstGeom prst="rect">
            <a:avLst/>
          </a:prstGeom>
          <a:solidFill>
            <a:srgbClr val="F1EEE6"/>
          </a:solidFill>
          <a:ln w="12700">
            <a:solidFill>
              <a:srgbClr val="F1EEE6"/>
            </a:solidFill>
            <a:prstDash val="solid"/>
          </a:ln>
        </p:spPr>
      </p:sp>
      <p:sp>
        <p:nvSpPr>
          <p:cNvPr id="3" name="Shape 1"/>
          <p:cNvSpPr/>
          <p:nvPr/>
        </p:nvSpPr>
        <p:spPr>
          <a:xfrm>
            <a:off x="880110" y="582930"/>
            <a:ext cx="68580" cy="480060"/>
          </a:xfrm>
          <a:prstGeom prst="rect">
            <a:avLst/>
          </a:prstGeom>
          <a:solidFill>
            <a:srgbClr val="F1EEE6"/>
          </a:solidFill>
          <a:ln w="12700">
            <a:solidFill>
              <a:srgbClr val="F1EEE6"/>
            </a:solidFill>
            <a:prstDash val="solid"/>
          </a:ln>
        </p:spPr>
      </p:sp>
      <p:sp>
        <p:nvSpPr>
          <p:cNvPr id="4" name="Shape 2"/>
          <p:cNvSpPr/>
          <p:nvPr/>
        </p:nvSpPr>
        <p:spPr>
          <a:xfrm>
            <a:off x="1000125" y="668655"/>
            <a:ext cx="137160" cy="308610"/>
          </a:xfrm>
          <a:prstGeom prst="rect">
            <a:avLst/>
          </a:prstGeom>
          <a:ln w="34290">
            <a:solidFill>
              <a:srgbClr val="F1EEE6"/>
            </a:solidFill>
            <a:prstDash val="solid"/>
          </a:ln>
        </p:spPr>
      </p:sp>
      <p:sp>
        <p:nvSpPr>
          <p:cNvPr id="5" name="Text 3"/>
          <p:cNvSpPr/>
          <p:nvPr/>
        </p:nvSpPr>
        <p:spPr>
          <a:xfrm>
            <a:off x="640080" y="1463040"/>
            <a:ext cx="10058400" cy="822960"/>
          </a:xfrm>
          <a:prstGeom prst="rect">
            <a:avLst/>
          </a:prstGeom>
          <a:noFill/>
          <a:ln/>
        </p:spPr>
        <p:txBody>
          <a:bodyPr wrap="square" lIns="0" tIns="0" rIns="0" bIns="0" rtlCol="0" anchor="ctr"/>
          <a:lstStyle/>
          <a:p>
            <a:pPr indent="0" marL="0">
              <a:buNone/>
            </a:pPr>
            <a:r>
              <a:rPr lang="en-US" sz="4400" dirty="0">
                <a:solidFill>
                  <a:srgbClr val="F1EEE6"/>
                </a:solidFill>
                <a:latin typeface="Instrument Serif" pitchFamily="34" charset="0"/>
                <a:ea typeface="Instrument Serif" pitchFamily="34" charset="-122"/>
                <a:cs typeface="Instrument Serif" pitchFamily="34" charset="-120"/>
              </a:rPr>
              <a:t>Verification without disclosure.</a:t>
            </a:r>
            <a:endParaRPr lang="en-US" sz="4400" dirty="0"/>
          </a:p>
        </p:txBody>
      </p:sp>
      <p:sp>
        <p:nvSpPr>
          <p:cNvPr id="6" name="Text 4"/>
          <p:cNvSpPr/>
          <p:nvPr/>
        </p:nvSpPr>
        <p:spPr>
          <a:xfrm>
            <a:off x="640080" y="2697480"/>
            <a:ext cx="3291840" cy="274320"/>
          </a:xfrm>
          <a:prstGeom prst="rect">
            <a:avLst/>
          </a:prstGeom>
          <a:noFill/>
          <a:ln/>
        </p:spPr>
        <p:txBody>
          <a:bodyPr wrap="square" lIns="0" tIns="0" rIns="0" bIns="0" rtlCol="0" anchor="ctr"/>
          <a:lstStyle/>
          <a:p>
            <a:pPr indent="0" marL="0">
              <a:buNone/>
            </a:pPr>
            <a:r>
              <a:rPr lang="en-US" sz="1100" b="1" spc="300" kern="0" dirty="0">
                <a:solidFill>
                  <a:srgbClr val="A8A59D"/>
                </a:solidFill>
                <a:latin typeface="IBM Plex Mono" pitchFamily="34" charset="0"/>
                <a:ea typeface="IBM Plex Mono" pitchFamily="34" charset="-122"/>
                <a:cs typeface="IBM Plex Mono" pitchFamily="34" charset="-120"/>
              </a:rPr>
              <a:t>FOR</a:t>
            </a:r>
            <a:endParaRPr lang="en-US" sz="1100" dirty="0"/>
          </a:p>
        </p:txBody>
      </p:sp>
      <p:sp>
        <p:nvSpPr>
          <p:cNvPr id="7" name="Text 5"/>
          <p:cNvSpPr/>
          <p:nvPr/>
        </p:nvSpPr>
        <p:spPr>
          <a:xfrm>
            <a:off x="640080" y="3063240"/>
            <a:ext cx="3383280" cy="1828800"/>
          </a:xfrm>
          <a:prstGeom prst="rect">
            <a:avLst/>
          </a:prstGeom>
          <a:noFill/>
          <a:ln/>
        </p:spPr>
        <p:txBody>
          <a:bodyPr wrap="square" lIns="0" tIns="0" rIns="0" bIns="0" rtlCol="0" anchor="t"/>
          <a:lstStyle/>
          <a:p>
            <a:pPr indent="0" marL="0">
              <a:spcAft>
                <a:spcPts val="600"/>
              </a:spcAft>
              <a:buNone/>
            </a:pPr>
            <a:r>
              <a:rPr lang="en-US" sz="1700" dirty="0">
                <a:solidFill>
                  <a:srgbClr val="F1EEE6"/>
                </a:solidFill>
                <a:latin typeface="Instrument Sans" pitchFamily="34" charset="0"/>
                <a:ea typeface="Instrument Sans" pitchFamily="34" charset="-122"/>
                <a:cs typeface="Instrument Sans" pitchFamily="34" charset="-120"/>
              </a:rPr>
              <a:t>AI labs</a:t>
            </a:r>
            <a:endParaRPr lang="en-US" sz="1700" dirty="0"/>
          </a:p>
          <a:p>
            <a:pPr indent="0" marL="0">
              <a:spcAft>
                <a:spcPts val="600"/>
              </a:spcAft>
              <a:buNone/>
            </a:pPr>
            <a:r>
              <a:rPr lang="en-US" sz="1700" dirty="0">
                <a:solidFill>
                  <a:srgbClr val="F1EEE6"/>
                </a:solidFill>
                <a:latin typeface="Instrument Sans" pitchFamily="34" charset="0"/>
                <a:ea typeface="Instrument Sans" pitchFamily="34" charset="-122"/>
                <a:cs typeface="Instrument Sans" pitchFamily="34" charset="-120"/>
              </a:rPr>
              <a:t>Independent safety evaluators</a:t>
            </a:r>
            <a:endParaRPr lang="en-US" sz="1700" dirty="0"/>
          </a:p>
          <a:p>
            <a:pPr indent="0" marL="0">
              <a:spcAft>
                <a:spcPts val="600"/>
              </a:spcAft>
              <a:buNone/>
            </a:pPr>
            <a:r>
              <a:rPr lang="en-US" sz="1700" dirty="0">
                <a:solidFill>
                  <a:srgbClr val="F1EEE6"/>
                </a:solidFill>
                <a:latin typeface="Instrument Sans" pitchFamily="34" charset="0"/>
                <a:ea typeface="Instrument Sans" pitchFamily="34" charset="-122"/>
                <a:cs typeface="Instrument Sans" pitchFamily="34" charset="-120"/>
              </a:rPr>
              <a:t>Model governance teams</a:t>
            </a:r>
            <a:endParaRPr lang="en-US" sz="1700" dirty="0"/>
          </a:p>
          <a:p>
            <a:pPr indent="0" marL="0">
              <a:spcAft>
                <a:spcPts val="600"/>
              </a:spcAft>
              <a:buNone/>
            </a:pPr>
            <a:r>
              <a:rPr lang="en-US" sz="1700" dirty="0">
                <a:solidFill>
                  <a:srgbClr val="F1EEE6"/>
                </a:solidFill>
                <a:latin typeface="Instrument Sans" pitchFamily="34" charset="0"/>
                <a:ea typeface="Instrument Sans" pitchFamily="34" charset="-122"/>
                <a:cs typeface="Instrument Sans" pitchFamily="34" charset="-120"/>
              </a:rPr>
              <a:t>Regulated AI releases</a:t>
            </a:r>
            <a:endParaRPr lang="en-US" sz="1700" dirty="0"/>
          </a:p>
        </p:txBody>
      </p:sp>
      <p:sp>
        <p:nvSpPr>
          <p:cNvPr id="8" name="Text 6"/>
          <p:cNvSpPr/>
          <p:nvPr/>
        </p:nvSpPr>
        <p:spPr>
          <a:xfrm>
            <a:off x="4389120" y="2697480"/>
            <a:ext cx="3291840" cy="274320"/>
          </a:xfrm>
          <a:prstGeom prst="rect">
            <a:avLst/>
          </a:prstGeom>
          <a:noFill/>
          <a:ln/>
        </p:spPr>
        <p:txBody>
          <a:bodyPr wrap="square" lIns="0" tIns="0" rIns="0" bIns="0" rtlCol="0" anchor="ctr"/>
          <a:lstStyle/>
          <a:p>
            <a:pPr indent="0" marL="0">
              <a:buNone/>
            </a:pPr>
            <a:r>
              <a:rPr lang="en-US" sz="1100" b="1" spc="300" kern="0" dirty="0">
                <a:solidFill>
                  <a:srgbClr val="A8A59D"/>
                </a:solidFill>
                <a:latin typeface="IBM Plex Mono" pitchFamily="34" charset="0"/>
                <a:ea typeface="IBM Plex Mono" pitchFamily="34" charset="-122"/>
                <a:cs typeface="IBM Plex Mono" pitchFamily="34" charset="-120"/>
              </a:rPr>
              <a:t>NOW</a:t>
            </a:r>
            <a:endParaRPr lang="en-US" sz="1100" dirty="0"/>
          </a:p>
        </p:txBody>
      </p:sp>
      <p:sp>
        <p:nvSpPr>
          <p:cNvPr id="9" name="Text 7"/>
          <p:cNvSpPr/>
          <p:nvPr/>
        </p:nvSpPr>
        <p:spPr>
          <a:xfrm>
            <a:off x="4389120" y="3063240"/>
            <a:ext cx="3383280" cy="1828800"/>
          </a:xfrm>
          <a:prstGeom prst="rect">
            <a:avLst/>
          </a:prstGeom>
          <a:noFill/>
          <a:ln/>
        </p:spPr>
        <p:txBody>
          <a:bodyPr wrap="square" lIns="0" tIns="0" rIns="0" bIns="0" rtlCol="0" anchor="t"/>
          <a:lstStyle/>
          <a:p>
            <a:pPr indent="0" marL="0">
              <a:spcAft>
                <a:spcPts val="600"/>
              </a:spcAft>
              <a:buNone/>
            </a:pPr>
            <a:r>
              <a:rPr lang="en-US" sz="1700" dirty="0">
                <a:solidFill>
                  <a:srgbClr val="F1EEE6"/>
                </a:solidFill>
                <a:latin typeface="Instrument Sans" pitchFamily="34" charset="0"/>
                <a:ea typeface="Instrument Sans" pitchFamily="34" charset="-122"/>
                <a:cs typeface="Instrument Sans" pitchFamily="34" charset="-120"/>
              </a:rPr>
              <a:t>Real Compact circuit</a:t>
            </a:r>
            <a:endParaRPr lang="en-US" sz="1700" dirty="0"/>
          </a:p>
          <a:p>
            <a:pPr indent="0" marL="0">
              <a:spcAft>
                <a:spcPts val="600"/>
              </a:spcAft>
              <a:buNone/>
            </a:pPr>
            <a:r>
              <a:rPr lang="en-US" sz="1700" dirty="0">
                <a:solidFill>
                  <a:srgbClr val="F1EEE6"/>
                </a:solidFill>
                <a:latin typeface="Instrument Sans" pitchFamily="34" charset="0"/>
                <a:ea typeface="Instrument Sans" pitchFamily="34" charset="-122"/>
                <a:cs typeface="Instrument Sans" pitchFamily="34" charset="-120"/>
              </a:rPr>
              <a:t>Real ZK proof</a:t>
            </a:r>
            <a:endParaRPr lang="en-US" sz="1700" dirty="0"/>
          </a:p>
          <a:p>
            <a:pPr indent="0" marL="0">
              <a:spcAft>
                <a:spcPts val="600"/>
              </a:spcAft>
              <a:buNone/>
            </a:pPr>
            <a:r>
              <a:rPr lang="en-US" sz="1700" dirty="0">
                <a:solidFill>
                  <a:srgbClr val="F1EEE6"/>
                </a:solidFill>
                <a:latin typeface="Instrument Sans" pitchFamily="34" charset="0"/>
                <a:ea typeface="Instrument Sans" pitchFamily="34" charset="-122"/>
                <a:cs typeface="Instrument Sans" pitchFamily="34" charset="-120"/>
              </a:rPr>
              <a:t>Working DApp</a:t>
            </a:r>
            <a:endParaRPr lang="en-US" sz="1700" dirty="0"/>
          </a:p>
          <a:p>
            <a:pPr indent="0" marL="0">
              <a:spcAft>
                <a:spcPts val="600"/>
              </a:spcAft>
              <a:buNone/>
            </a:pPr>
            <a:r>
              <a:rPr lang="en-US" sz="1700" dirty="0">
                <a:solidFill>
                  <a:srgbClr val="F1EEE6"/>
                </a:solidFill>
                <a:latin typeface="Instrument Sans" pitchFamily="34" charset="0"/>
                <a:ea typeface="Instrument Sans" pitchFamily="34" charset="-122"/>
                <a:cs typeface="Instrument Sans" pitchFamily="34" charset="-120"/>
              </a:rPr>
              <a:t>Reproducible tests + CI</a:t>
            </a:r>
            <a:endParaRPr lang="en-US" sz="1700" dirty="0"/>
          </a:p>
        </p:txBody>
      </p:sp>
      <p:sp>
        <p:nvSpPr>
          <p:cNvPr id="10" name="Text 8"/>
          <p:cNvSpPr/>
          <p:nvPr/>
        </p:nvSpPr>
        <p:spPr>
          <a:xfrm>
            <a:off x="8138160" y="2697480"/>
            <a:ext cx="3291840" cy="274320"/>
          </a:xfrm>
          <a:prstGeom prst="rect">
            <a:avLst/>
          </a:prstGeom>
          <a:noFill/>
          <a:ln/>
        </p:spPr>
        <p:txBody>
          <a:bodyPr wrap="square" lIns="0" tIns="0" rIns="0" bIns="0" rtlCol="0" anchor="ctr"/>
          <a:lstStyle/>
          <a:p>
            <a:pPr indent="0" marL="0">
              <a:buNone/>
            </a:pPr>
            <a:r>
              <a:rPr lang="en-US" sz="1100" b="1" spc="300" kern="0" dirty="0">
                <a:solidFill>
                  <a:srgbClr val="A8A59D"/>
                </a:solidFill>
                <a:latin typeface="IBM Plex Mono" pitchFamily="34" charset="0"/>
                <a:ea typeface="IBM Plex Mono" pitchFamily="34" charset="-122"/>
                <a:cs typeface="IBM Plex Mono" pitchFamily="34" charset="-120"/>
              </a:rPr>
              <a:t>NEXT</a:t>
            </a:r>
            <a:endParaRPr lang="en-US" sz="1100" dirty="0"/>
          </a:p>
        </p:txBody>
      </p:sp>
      <p:sp>
        <p:nvSpPr>
          <p:cNvPr id="11" name="Text 9"/>
          <p:cNvSpPr/>
          <p:nvPr/>
        </p:nvSpPr>
        <p:spPr>
          <a:xfrm>
            <a:off x="8138160" y="3063240"/>
            <a:ext cx="3383280" cy="1828800"/>
          </a:xfrm>
          <a:prstGeom prst="rect">
            <a:avLst/>
          </a:prstGeom>
          <a:noFill/>
          <a:ln/>
        </p:spPr>
        <p:txBody>
          <a:bodyPr wrap="square" lIns="0" tIns="0" rIns="0" bIns="0" rtlCol="0" anchor="t"/>
          <a:lstStyle/>
          <a:p>
            <a:pPr indent="0" marL="0">
              <a:spcAft>
                <a:spcPts val="600"/>
              </a:spcAft>
              <a:buNone/>
            </a:pPr>
            <a:r>
              <a:rPr lang="en-US" sz="1700" dirty="0">
                <a:solidFill>
                  <a:srgbClr val="F1EEE6"/>
                </a:solidFill>
                <a:latin typeface="Instrument Sans" pitchFamily="34" charset="0"/>
                <a:ea typeface="Instrument Sans" pitchFamily="34" charset="-122"/>
                <a:cs typeface="Instrument Sans" pitchFamily="34" charset="-120"/>
              </a:rPr>
              <a:t>Public Midnight deployment</a:t>
            </a:r>
            <a:endParaRPr lang="en-US" sz="1700" dirty="0"/>
          </a:p>
          <a:p>
            <a:pPr indent="0" marL="0">
              <a:spcAft>
                <a:spcPts val="600"/>
              </a:spcAft>
              <a:buNone/>
            </a:pPr>
            <a:r>
              <a:rPr lang="en-US" sz="1700" dirty="0">
                <a:solidFill>
                  <a:srgbClr val="F1EEE6"/>
                </a:solidFill>
                <a:latin typeface="Instrument Sans" pitchFamily="34" charset="0"/>
                <a:ea typeface="Instrument Sans" pitchFamily="34" charset="-122"/>
                <a:cs typeface="Instrument Sans" pitchFamily="34" charset="-120"/>
              </a:rPr>
              <a:t>Multi-evaluator attestations</a:t>
            </a:r>
            <a:endParaRPr lang="en-US" sz="1700" dirty="0"/>
          </a:p>
          <a:p>
            <a:pPr indent="0" marL="0">
              <a:spcAft>
                <a:spcPts val="600"/>
              </a:spcAft>
              <a:buNone/>
            </a:pPr>
            <a:r>
              <a:rPr lang="en-US" sz="1700" dirty="0">
                <a:solidFill>
                  <a:srgbClr val="F1EEE6"/>
                </a:solidFill>
                <a:latin typeface="Instrument Sans" pitchFamily="34" charset="0"/>
                <a:ea typeface="Instrument Sans" pitchFamily="34" charset="-122"/>
                <a:cs typeface="Instrument Sans" pitchFamily="34" charset="-120"/>
              </a:rPr>
              <a:t>Real evaluation pipelines</a:t>
            </a:r>
            <a:endParaRPr lang="en-US" sz="1700" dirty="0"/>
          </a:p>
        </p:txBody>
      </p:sp>
      <p:sp>
        <p:nvSpPr>
          <p:cNvPr id="12" name="Text 10"/>
          <p:cNvSpPr/>
          <p:nvPr/>
        </p:nvSpPr>
        <p:spPr>
          <a:xfrm>
            <a:off x="640080" y="5257800"/>
            <a:ext cx="8229600" cy="822960"/>
          </a:xfrm>
          <a:prstGeom prst="rect">
            <a:avLst/>
          </a:prstGeom>
          <a:noFill/>
          <a:ln/>
        </p:spPr>
        <p:txBody>
          <a:bodyPr wrap="square" lIns="0" tIns="0" rIns="0" bIns="0" rtlCol="0" anchor="ctr"/>
          <a:lstStyle/>
          <a:p>
            <a:pPr indent="0" marL="0">
              <a:buNone/>
            </a:pPr>
            <a:r>
              <a:rPr lang="en-US" sz="4000" dirty="0">
                <a:solidFill>
                  <a:srgbClr val="F1EEE6"/>
                </a:solidFill>
                <a:latin typeface="Instrument Serif" pitchFamily="34" charset="0"/>
                <a:ea typeface="Instrument Serif" pitchFamily="34" charset="-122"/>
                <a:cs typeface="Instrument Serif" pitchFamily="34" charset="-120"/>
              </a:rPr>
              <a:t>Pass the test. </a:t>
            </a:r>
            <a:pPr indent="0" marL="0">
              <a:buNone/>
            </a:pPr>
            <a:r>
              <a:rPr lang="en-US" sz="4000" i="1" dirty="0">
                <a:solidFill>
                  <a:srgbClr val="F1EEE6"/>
                </a:solidFill>
                <a:latin typeface="Instrument Serif" pitchFamily="34" charset="0"/>
                <a:ea typeface="Instrument Serif" pitchFamily="34" charset="-122"/>
                <a:cs typeface="Instrument Serif" pitchFamily="34" charset="-120"/>
              </a:rPr>
              <a:t>Keep the test closed.</a:t>
            </a:r>
            <a:endParaRPr lang="en-US" sz="4000" dirty="0"/>
          </a:p>
        </p:txBody>
      </p:sp>
      <p:sp>
        <p:nvSpPr>
          <p:cNvPr id="13" name="Text 11"/>
          <p:cNvSpPr/>
          <p:nvPr/>
        </p:nvSpPr>
        <p:spPr>
          <a:xfrm>
            <a:off x="640080" y="6126480"/>
            <a:ext cx="8229600" cy="320040"/>
          </a:xfrm>
          <a:prstGeom prst="rect">
            <a:avLst/>
          </a:prstGeom>
          <a:noFill/>
          <a:ln/>
        </p:spPr>
        <p:txBody>
          <a:bodyPr wrap="square" lIns="0" tIns="0" rIns="0" bIns="0" rtlCol="0" anchor="ctr"/>
          <a:lstStyle/>
          <a:p>
            <a:pPr indent="0" marL="0">
              <a:buNone/>
            </a:pPr>
            <a:r>
              <a:rPr lang="en-US" sz="1300" dirty="0">
                <a:solidFill>
                  <a:srgbClr val="A8A59D"/>
                </a:solidFill>
                <a:latin typeface="IBM Plex Mono" pitchFamily="34" charset="0"/>
                <a:ea typeface="IBM Plex Mono" pitchFamily="34" charset="-122"/>
                <a:cs typeface="IBM Plex Mono" pitchFamily="34" charset="-120"/>
              </a:rPr>
              <a:t>closed-book.vercel.app · github.com/BeBecpp/closed_book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CLOSED BOOK — Midnight Korea Hackathon 2026</dc:title>
  <dc:subject>PptxGenJS Presentation</dc:subject>
  <dc:creator>CLOSED BOOK</dc:creator>
  <cp:lastModifiedBy>CLOSED BOOK</cp:lastModifiedBy>
  <cp:revision>1</cp:revision>
  <dcterms:created xsi:type="dcterms:W3CDTF">2026-09-27T07:15:37Z</dcterms:created>
  <dcterms:modified xsi:type="dcterms:W3CDTF">2026-09-27T07:15:37Z</dcterms:modified>
</cp:coreProperties>
</file>